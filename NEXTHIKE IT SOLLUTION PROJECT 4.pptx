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3" autoAdjust="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6" Type="http://schemas.openxmlformats.org/officeDocument/2006/relationships/image" Target="../media/image17.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6" Type="http://schemas.openxmlformats.org/officeDocument/2006/relationships/image" Target="../media/image17.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D84B41-D825-4386-A325-BB10169EA1C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74202FD-4F09-4EAD-A42C-6EC7B0624D2B}">
      <dgm:prSet/>
      <dgm:spPr/>
      <dgm:t>
        <a:bodyPr/>
        <a:lstStyle/>
        <a:p>
          <a:r>
            <a:rPr lang="en-IN" dirty="0"/>
            <a:t>This project aims to predict the prices of mobile phones using a provided dataset. By leveraging various features of mobile devices, we will build a robust machine learning model to estimate their market value.</a:t>
          </a:r>
          <a:endParaRPr lang="en-US" dirty="0"/>
        </a:p>
      </dgm:t>
    </dgm:pt>
    <dgm:pt modelId="{BB294AE9-2CD8-4795-9E58-B77B39E64D24}" type="parTrans" cxnId="{251BEE3A-D32A-4FDC-89DF-600A266B7352}">
      <dgm:prSet/>
      <dgm:spPr/>
      <dgm:t>
        <a:bodyPr/>
        <a:lstStyle/>
        <a:p>
          <a:endParaRPr lang="en-US"/>
        </a:p>
      </dgm:t>
    </dgm:pt>
    <dgm:pt modelId="{D425E92E-E1BA-40FA-8DCC-ADD8BDE97E84}" type="sibTrans" cxnId="{251BEE3A-D32A-4FDC-89DF-600A266B7352}">
      <dgm:prSet/>
      <dgm:spPr/>
      <dgm:t>
        <a:bodyPr/>
        <a:lstStyle/>
        <a:p>
          <a:endParaRPr lang="en-US"/>
        </a:p>
      </dgm:t>
    </dgm:pt>
    <dgm:pt modelId="{146A8600-F82B-4329-831F-784EF200B3B5}">
      <dgm:prSet/>
      <dgm:spPr/>
      <dgm:t>
        <a:bodyPr/>
        <a:lstStyle/>
        <a:p>
          <a:r>
            <a:rPr lang="en-IN"/>
            <a:t>Technologies and Libraries Used</a:t>
          </a:r>
          <a:endParaRPr lang="en-US"/>
        </a:p>
      </dgm:t>
    </dgm:pt>
    <dgm:pt modelId="{1BE00334-B77A-4055-9B5E-64FD31E9BBC7}" type="parTrans" cxnId="{A8C75847-4A01-49E7-AC29-C210EC094D30}">
      <dgm:prSet/>
      <dgm:spPr/>
      <dgm:t>
        <a:bodyPr/>
        <a:lstStyle/>
        <a:p>
          <a:endParaRPr lang="en-US"/>
        </a:p>
      </dgm:t>
    </dgm:pt>
    <dgm:pt modelId="{0CF39401-B360-40C5-9C05-196BD30E3E84}" type="sibTrans" cxnId="{A8C75847-4A01-49E7-AC29-C210EC094D30}">
      <dgm:prSet/>
      <dgm:spPr/>
      <dgm:t>
        <a:bodyPr/>
        <a:lstStyle/>
        <a:p>
          <a:endParaRPr lang="en-US"/>
        </a:p>
      </dgm:t>
    </dgm:pt>
    <dgm:pt modelId="{1B5D39C3-1B14-4532-89A0-64FC31D2D7D5}">
      <dgm:prSet/>
      <dgm:spPr/>
      <dgm:t>
        <a:bodyPr/>
        <a:lstStyle/>
        <a:p>
          <a:r>
            <a:rPr lang="en-IN"/>
            <a:t>This project utilizes a suite of powerful Python libraries for data manipulation, analysis, visualization, and machine learning, including:</a:t>
          </a:r>
          <a:endParaRPr lang="en-US"/>
        </a:p>
      </dgm:t>
    </dgm:pt>
    <dgm:pt modelId="{BE85FBF9-63B1-4379-A9BF-E2FA21213063}" type="parTrans" cxnId="{78E9BEEB-E7F7-41F0-A5BC-87DB17FD6FB8}">
      <dgm:prSet/>
      <dgm:spPr/>
      <dgm:t>
        <a:bodyPr/>
        <a:lstStyle/>
        <a:p>
          <a:endParaRPr lang="en-US"/>
        </a:p>
      </dgm:t>
    </dgm:pt>
    <dgm:pt modelId="{EABF128F-1555-4D0A-BE09-4EC8CD19149E}" type="sibTrans" cxnId="{78E9BEEB-E7F7-41F0-A5BC-87DB17FD6FB8}">
      <dgm:prSet/>
      <dgm:spPr/>
      <dgm:t>
        <a:bodyPr/>
        <a:lstStyle/>
        <a:p>
          <a:endParaRPr lang="en-US"/>
        </a:p>
      </dgm:t>
    </dgm:pt>
    <dgm:pt modelId="{34371168-2D4E-4126-94F8-C1E41495FA16}">
      <dgm:prSet/>
      <dgm:spPr/>
      <dgm:t>
        <a:bodyPr/>
        <a:lstStyle/>
        <a:p>
          <a:r>
            <a:rPr lang="en-IN" b="1"/>
            <a:t>Pandas</a:t>
          </a:r>
          <a:r>
            <a:rPr lang="en-IN"/>
            <a:t>: For data manipulation and analysis.</a:t>
          </a:r>
          <a:endParaRPr lang="en-US"/>
        </a:p>
      </dgm:t>
    </dgm:pt>
    <dgm:pt modelId="{4FE3A5C1-C7E9-4097-BC4F-A1BA2B334027}" type="parTrans" cxnId="{9EE0955D-A599-469A-B925-5FAE6BD9F0A3}">
      <dgm:prSet/>
      <dgm:spPr/>
      <dgm:t>
        <a:bodyPr/>
        <a:lstStyle/>
        <a:p>
          <a:endParaRPr lang="en-US"/>
        </a:p>
      </dgm:t>
    </dgm:pt>
    <dgm:pt modelId="{DD82A674-5E64-429E-B3E4-6F2059C5503A}" type="sibTrans" cxnId="{9EE0955D-A599-469A-B925-5FAE6BD9F0A3}">
      <dgm:prSet/>
      <dgm:spPr/>
      <dgm:t>
        <a:bodyPr/>
        <a:lstStyle/>
        <a:p>
          <a:endParaRPr lang="en-US"/>
        </a:p>
      </dgm:t>
    </dgm:pt>
    <dgm:pt modelId="{1A6A94E5-5ADF-4C4D-9E0F-420388C1D6E1}">
      <dgm:prSet/>
      <dgm:spPr/>
      <dgm:t>
        <a:bodyPr/>
        <a:lstStyle/>
        <a:p>
          <a:r>
            <a:rPr lang="en-IN" b="1"/>
            <a:t>NumPy</a:t>
          </a:r>
          <a:r>
            <a:rPr lang="en-IN"/>
            <a:t>: For numerical operations.</a:t>
          </a:r>
          <a:endParaRPr lang="en-US"/>
        </a:p>
      </dgm:t>
    </dgm:pt>
    <dgm:pt modelId="{093F7DE6-A3BA-4AA4-AB85-C21A7CCE9819}" type="parTrans" cxnId="{52692A0A-18C6-4CDB-88B1-444DE94E3976}">
      <dgm:prSet/>
      <dgm:spPr/>
      <dgm:t>
        <a:bodyPr/>
        <a:lstStyle/>
        <a:p>
          <a:endParaRPr lang="en-US"/>
        </a:p>
      </dgm:t>
    </dgm:pt>
    <dgm:pt modelId="{DCD106BD-FE17-4DD7-A104-16995DE3AFBF}" type="sibTrans" cxnId="{52692A0A-18C6-4CDB-88B1-444DE94E3976}">
      <dgm:prSet/>
      <dgm:spPr/>
      <dgm:t>
        <a:bodyPr/>
        <a:lstStyle/>
        <a:p>
          <a:endParaRPr lang="en-US"/>
        </a:p>
      </dgm:t>
    </dgm:pt>
    <dgm:pt modelId="{C5FA55F2-D8D1-433A-8240-1DD598FE9879}">
      <dgm:prSet/>
      <dgm:spPr/>
      <dgm:t>
        <a:bodyPr/>
        <a:lstStyle/>
        <a:p>
          <a:r>
            <a:rPr lang="en-IN" b="1"/>
            <a:t>Matplotlib</a:t>
          </a:r>
          <a:r>
            <a:rPr lang="en-IN"/>
            <a:t>: For creating static, interactive, and animated visualizations.</a:t>
          </a:r>
          <a:endParaRPr lang="en-US"/>
        </a:p>
      </dgm:t>
    </dgm:pt>
    <dgm:pt modelId="{9872F853-CFB2-4336-B263-C27FB9171758}" type="parTrans" cxnId="{7D97F10E-F8DA-417C-AA5F-31720EFFE165}">
      <dgm:prSet/>
      <dgm:spPr/>
      <dgm:t>
        <a:bodyPr/>
        <a:lstStyle/>
        <a:p>
          <a:endParaRPr lang="en-US"/>
        </a:p>
      </dgm:t>
    </dgm:pt>
    <dgm:pt modelId="{A4A81380-4C1C-44D1-9E3F-CB863F087D94}" type="sibTrans" cxnId="{7D97F10E-F8DA-417C-AA5F-31720EFFE165}">
      <dgm:prSet/>
      <dgm:spPr/>
      <dgm:t>
        <a:bodyPr/>
        <a:lstStyle/>
        <a:p>
          <a:endParaRPr lang="en-US"/>
        </a:p>
      </dgm:t>
    </dgm:pt>
    <dgm:pt modelId="{859F59F7-4B44-4EB3-9889-0FAFEC80C480}">
      <dgm:prSet/>
      <dgm:spPr/>
      <dgm:t>
        <a:bodyPr/>
        <a:lstStyle/>
        <a:p>
          <a:r>
            <a:rPr lang="en-IN" b="1"/>
            <a:t>Seaborn</a:t>
          </a:r>
          <a:r>
            <a:rPr lang="en-IN"/>
            <a:t>: For statistical data visualization.</a:t>
          </a:r>
          <a:endParaRPr lang="en-US"/>
        </a:p>
      </dgm:t>
    </dgm:pt>
    <dgm:pt modelId="{31BA5E5C-A6D2-4E0A-86CD-4AC8F6D182A4}" type="parTrans" cxnId="{12FA2BE4-498D-4237-BE29-D6962FCFEA5C}">
      <dgm:prSet/>
      <dgm:spPr/>
      <dgm:t>
        <a:bodyPr/>
        <a:lstStyle/>
        <a:p>
          <a:endParaRPr lang="en-US"/>
        </a:p>
      </dgm:t>
    </dgm:pt>
    <dgm:pt modelId="{57959227-3370-4DEB-B9AE-F8D2A85EF885}" type="sibTrans" cxnId="{12FA2BE4-498D-4237-BE29-D6962FCFEA5C}">
      <dgm:prSet/>
      <dgm:spPr/>
      <dgm:t>
        <a:bodyPr/>
        <a:lstStyle/>
        <a:p>
          <a:endParaRPr lang="en-US"/>
        </a:p>
      </dgm:t>
    </dgm:pt>
    <dgm:pt modelId="{7345E961-F275-4364-B14B-A35F6A4EA557}">
      <dgm:prSet/>
      <dgm:spPr/>
      <dgm:t>
        <a:bodyPr/>
        <a:lstStyle/>
        <a:p>
          <a:r>
            <a:rPr lang="en-IN" b="1"/>
            <a:t>Scikit-learn</a:t>
          </a:r>
          <a:r>
            <a:rPr lang="en-IN"/>
            <a:t>: For machine learning model building, evaluation, and preprocessing.</a:t>
          </a:r>
          <a:endParaRPr lang="en-US"/>
        </a:p>
      </dgm:t>
    </dgm:pt>
    <dgm:pt modelId="{90D6AE4A-D127-4DC7-89F5-9F1FCC3113A7}" type="parTrans" cxnId="{A69056FD-6576-4DDD-A50A-6FB8456EAE49}">
      <dgm:prSet/>
      <dgm:spPr/>
      <dgm:t>
        <a:bodyPr/>
        <a:lstStyle/>
        <a:p>
          <a:endParaRPr lang="en-US"/>
        </a:p>
      </dgm:t>
    </dgm:pt>
    <dgm:pt modelId="{D73DB50B-A7CB-4F4A-A67C-9C03F9D36D67}" type="sibTrans" cxnId="{A69056FD-6576-4DDD-A50A-6FB8456EAE49}">
      <dgm:prSet/>
      <dgm:spPr/>
      <dgm:t>
        <a:bodyPr/>
        <a:lstStyle/>
        <a:p>
          <a:endParaRPr lang="en-US"/>
        </a:p>
      </dgm:t>
    </dgm:pt>
    <dgm:pt modelId="{F2263DAA-938D-4442-8121-4D538B13AB9F}" type="pres">
      <dgm:prSet presAssocID="{23D84B41-D825-4386-A325-BB10169EA1C4}" presName="root" presStyleCnt="0">
        <dgm:presLayoutVars>
          <dgm:dir/>
          <dgm:resizeHandles val="exact"/>
        </dgm:presLayoutVars>
      </dgm:prSet>
      <dgm:spPr/>
    </dgm:pt>
    <dgm:pt modelId="{E22AB407-260C-4B11-B2A8-98679C97A9FD}" type="pres">
      <dgm:prSet presAssocID="{974202FD-4F09-4EAD-A42C-6EC7B0624D2B}" presName="compNode" presStyleCnt="0"/>
      <dgm:spPr/>
    </dgm:pt>
    <dgm:pt modelId="{FC394A60-44E4-44C7-8DE2-951DB0F97225}" type="pres">
      <dgm:prSet presAssocID="{974202FD-4F09-4EAD-A42C-6EC7B0624D2B}" presName="bgRect" presStyleLbl="bgShp" presStyleIdx="0" presStyleCnt="8"/>
      <dgm:spPr/>
    </dgm:pt>
    <dgm:pt modelId="{024E888A-EA56-4C43-B651-66B3281F6E41}" type="pres">
      <dgm:prSet presAssocID="{974202FD-4F09-4EAD-A42C-6EC7B0624D2B}"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1088BEC6-BA13-4255-A576-63EA4FDD7E69}" type="pres">
      <dgm:prSet presAssocID="{974202FD-4F09-4EAD-A42C-6EC7B0624D2B}" presName="spaceRect" presStyleCnt="0"/>
      <dgm:spPr/>
    </dgm:pt>
    <dgm:pt modelId="{88D0AB61-117C-49C8-A125-686368A6C507}" type="pres">
      <dgm:prSet presAssocID="{974202FD-4F09-4EAD-A42C-6EC7B0624D2B}" presName="parTx" presStyleLbl="revTx" presStyleIdx="0" presStyleCnt="8">
        <dgm:presLayoutVars>
          <dgm:chMax val="0"/>
          <dgm:chPref val="0"/>
        </dgm:presLayoutVars>
      </dgm:prSet>
      <dgm:spPr/>
    </dgm:pt>
    <dgm:pt modelId="{7F32300F-5F4C-4DE4-B803-9D6733D15E3A}" type="pres">
      <dgm:prSet presAssocID="{D425E92E-E1BA-40FA-8DCC-ADD8BDE97E84}" presName="sibTrans" presStyleCnt="0"/>
      <dgm:spPr/>
    </dgm:pt>
    <dgm:pt modelId="{99ED5FD7-2E48-4DFC-87B8-57372FB3E815}" type="pres">
      <dgm:prSet presAssocID="{146A8600-F82B-4329-831F-784EF200B3B5}" presName="compNode" presStyleCnt="0"/>
      <dgm:spPr/>
    </dgm:pt>
    <dgm:pt modelId="{AB6ADE77-CCA3-45C5-BCAA-08323059F515}" type="pres">
      <dgm:prSet presAssocID="{146A8600-F82B-4329-831F-784EF200B3B5}" presName="bgRect" presStyleLbl="bgShp" presStyleIdx="1" presStyleCnt="8"/>
      <dgm:spPr/>
    </dgm:pt>
    <dgm:pt modelId="{9919CFAE-8BE2-45D0-A881-D6E9B4BE2908}" type="pres">
      <dgm:prSet presAssocID="{146A8600-F82B-4329-831F-784EF200B3B5}"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F1DBF398-653B-4676-80C5-0BF58AAC5FA0}" type="pres">
      <dgm:prSet presAssocID="{146A8600-F82B-4329-831F-784EF200B3B5}" presName="spaceRect" presStyleCnt="0"/>
      <dgm:spPr/>
    </dgm:pt>
    <dgm:pt modelId="{184B3767-093E-45D7-8B5B-7AF259D17C22}" type="pres">
      <dgm:prSet presAssocID="{146A8600-F82B-4329-831F-784EF200B3B5}" presName="parTx" presStyleLbl="revTx" presStyleIdx="1" presStyleCnt="8">
        <dgm:presLayoutVars>
          <dgm:chMax val="0"/>
          <dgm:chPref val="0"/>
        </dgm:presLayoutVars>
      </dgm:prSet>
      <dgm:spPr/>
    </dgm:pt>
    <dgm:pt modelId="{BC347531-FA51-44B1-B86E-3009EE636499}" type="pres">
      <dgm:prSet presAssocID="{0CF39401-B360-40C5-9C05-196BD30E3E84}" presName="sibTrans" presStyleCnt="0"/>
      <dgm:spPr/>
    </dgm:pt>
    <dgm:pt modelId="{A85C7414-BE98-4C9E-9221-F9E319099847}" type="pres">
      <dgm:prSet presAssocID="{1B5D39C3-1B14-4532-89A0-64FC31D2D7D5}" presName="compNode" presStyleCnt="0"/>
      <dgm:spPr/>
    </dgm:pt>
    <dgm:pt modelId="{95345B51-B614-422D-91A7-0FA845167FB1}" type="pres">
      <dgm:prSet presAssocID="{1B5D39C3-1B14-4532-89A0-64FC31D2D7D5}" presName="bgRect" presStyleLbl="bgShp" presStyleIdx="2" presStyleCnt="8"/>
      <dgm:spPr/>
    </dgm:pt>
    <dgm:pt modelId="{636F0358-E9E0-4598-85C7-3B83986365F4}" type="pres">
      <dgm:prSet presAssocID="{1B5D39C3-1B14-4532-89A0-64FC31D2D7D5}"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6A94BA88-706B-45C8-8DA5-11B012000555}" type="pres">
      <dgm:prSet presAssocID="{1B5D39C3-1B14-4532-89A0-64FC31D2D7D5}" presName="spaceRect" presStyleCnt="0"/>
      <dgm:spPr/>
    </dgm:pt>
    <dgm:pt modelId="{E7A09477-4440-4297-B7C8-B1D58928829D}" type="pres">
      <dgm:prSet presAssocID="{1B5D39C3-1B14-4532-89A0-64FC31D2D7D5}" presName="parTx" presStyleLbl="revTx" presStyleIdx="2" presStyleCnt="8">
        <dgm:presLayoutVars>
          <dgm:chMax val="0"/>
          <dgm:chPref val="0"/>
        </dgm:presLayoutVars>
      </dgm:prSet>
      <dgm:spPr/>
    </dgm:pt>
    <dgm:pt modelId="{238B990A-AAB9-409E-9745-169B692EFBF4}" type="pres">
      <dgm:prSet presAssocID="{EABF128F-1555-4D0A-BE09-4EC8CD19149E}" presName="sibTrans" presStyleCnt="0"/>
      <dgm:spPr/>
    </dgm:pt>
    <dgm:pt modelId="{C8A19F78-9B1C-47F6-B220-4B62807471BE}" type="pres">
      <dgm:prSet presAssocID="{34371168-2D4E-4126-94F8-C1E41495FA16}" presName="compNode" presStyleCnt="0"/>
      <dgm:spPr/>
    </dgm:pt>
    <dgm:pt modelId="{DA53915A-4392-4CC5-9FBB-080B79322219}" type="pres">
      <dgm:prSet presAssocID="{34371168-2D4E-4126-94F8-C1E41495FA16}" presName="bgRect" presStyleLbl="bgShp" presStyleIdx="3" presStyleCnt="8"/>
      <dgm:spPr/>
    </dgm:pt>
    <dgm:pt modelId="{F6FA6A48-E7C8-4373-A6E2-2DD342FE641F}" type="pres">
      <dgm:prSet presAssocID="{34371168-2D4E-4126-94F8-C1E41495FA16}"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nda"/>
        </a:ext>
      </dgm:extLst>
    </dgm:pt>
    <dgm:pt modelId="{64B7ED55-54D3-4796-A8AF-1FE1FE4AC6FA}" type="pres">
      <dgm:prSet presAssocID="{34371168-2D4E-4126-94F8-C1E41495FA16}" presName="spaceRect" presStyleCnt="0"/>
      <dgm:spPr/>
    </dgm:pt>
    <dgm:pt modelId="{30F4D345-A81E-4B30-AB36-AAF48F998523}" type="pres">
      <dgm:prSet presAssocID="{34371168-2D4E-4126-94F8-C1E41495FA16}" presName="parTx" presStyleLbl="revTx" presStyleIdx="3" presStyleCnt="8">
        <dgm:presLayoutVars>
          <dgm:chMax val="0"/>
          <dgm:chPref val="0"/>
        </dgm:presLayoutVars>
      </dgm:prSet>
      <dgm:spPr/>
    </dgm:pt>
    <dgm:pt modelId="{1BE46CA4-E5D3-4906-BC51-98DDC7F24344}" type="pres">
      <dgm:prSet presAssocID="{DD82A674-5E64-429E-B3E4-6F2059C5503A}" presName="sibTrans" presStyleCnt="0"/>
      <dgm:spPr/>
    </dgm:pt>
    <dgm:pt modelId="{84F27A46-E802-4928-B4A6-41600CE2D357}" type="pres">
      <dgm:prSet presAssocID="{1A6A94E5-5ADF-4C4D-9E0F-420388C1D6E1}" presName="compNode" presStyleCnt="0"/>
      <dgm:spPr/>
    </dgm:pt>
    <dgm:pt modelId="{3EF35803-3E72-4039-8160-5517ED26D2E9}" type="pres">
      <dgm:prSet presAssocID="{1A6A94E5-5ADF-4C4D-9E0F-420388C1D6E1}" presName="bgRect" presStyleLbl="bgShp" presStyleIdx="4" presStyleCnt="8"/>
      <dgm:spPr/>
    </dgm:pt>
    <dgm:pt modelId="{BB29122D-081F-4A8B-83B8-BA5B93EAF3D9}" type="pres">
      <dgm:prSet presAssocID="{1A6A94E5-5ADF-4C4D-9E0F-420388C1D6E1}"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thematics"/>
        </a:ext>
      </dgm:extLst>
    </dgm:pt>
    <dgm:pt modelId="{E0887828-7E07-4509-AC94-2897AF55A9FB}" type="pres">
      <dgm:prSet presAssocID="{1A6A94E5-5ADF-4C4D-9E0F-420388C1D6E1}" presName="spaceRect" presStyleCnt="0"/>
      <dgm:spPr/>
    </dgm:pt>
    <dgm:pt modelId="{66AE8713-507C-4EBF-8D95-EC1C3336A3FC}" type="pres">
      <dgm:prSet presAssocID="{1A6A94E5-5ADF-4C4D-9E0F-420388C1D6E1}" presName="parTx" presStyleLbl="revTx" presStyleIdx="4" presStyleCnt="8">
        <dgm:presLayoutVars>
          <dgm:chMax val="0"/>
          <dgm:chPref val="0"/>
        </dgm:presLayoutVars>
      </dgm:prSet>
      <dgm:spPr/>
    </dgm:pt>
    <dgm:pt modelId="{B6DADEDC-86E7-4796-8E11-CCA79C4FD109}" type="pres">
      <dgm:prSet presAssocID="{DCD106BD-FE17-4DD7-A104-16995DE3AFBF}" presName="sibTrans" presStyleCnt="0"/>
      <dgm:spPr/>
    </dgm:pt>
    <dgm:pt modelId="{794B70CF-A4C9-4ECC-A275-7AB6C9E868D4}" type="pres">
      <dgm:prSet presAssocID="{C5FA55F2-D8D1-433A-8240-1DD598FE9879}" presName="compNode" presStyleCnt="0"/>
      <dgm:spPr/>
    </dgm:pt>
    <dgm:pt modelId="{50C69672-A16D-4488-9B0F-C5DDFDC25320}" type="pres">
      <dgm:prSet presAssocID="{C5FA55F2-D8D1-433A-8240-1DD598FE9879}" presName="bgRect" presStyleLbl="bgShp" presStyleIdx="5" presStyleCnt="8"/>
      <dgm:spPr/>
    </dgm:pt>
    <dgm:pt modelId="{830E88DF-F1E5-4075-B2A8-700F448A19B1}" type="pres">
      <dgm:prSet presAssocID="{C5FA55F2-D8D1-433A-8240-1DD598FE9879}"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ecision chart"/>
        </a:ext>
      </dgm:extLst>
    </dgm:pt>
    <dgm:pt modelId="{2C11AC41-E258-48E0-9B16-C1FAB98D21C4}" type="pres">
      <dgm:prSet presAssocID="{C5FA55F2-D8D1-433A-8240-1DD598FE9879}" presName="spaceRect" presStyleCnt="0"/>
      <dgm:spPr/>
    </dgm:pt>
    <dgm:pt modelId="{35875556-D4CD-4144-B97A-529A96FC7846}" type="pres">
      <dgm:prSet presAssocID="{C5FA55F2-D8D1-433A-8240-1DD598FE9879}" presName="parTx" presStyleLbl="revTx" presStyleIdx="5" presStyleCnt="8">
        <dgm:presLayoutVars>
          <dgm:chMax val="0"/>
          <dgm:chPref val="0"/>
        </dgm:presLayoutVars>
      </dgm:prSet>
      <dgm:spPr/>
    </dgm:pt>
    <dgm:pt modelId="{60AC51B4-AC42-4083-968D-29FE7C7A3523}" type="pres">
      <dgm:prSet presAssocID="{A4A81380-4C1C-44D1-9E3F-CB863F087D94}" presName="sibTrans" presStyleCnt="0"/>
      <dgm:spPr/>
    </dgm:pt>
    <dgm:pt modelId="{31A5D527-FC18-42F9-A5A9-51C0DA08EEA5}" type="pres">
      <dgm:prSet presAssocID="{859F59F7-4B44-4EB3-9889-0FAFEC80C480}" presName="compNode" presStyleCnt="0"/>
      <dgm:spPr/>
    </dgm:pt>
    <dgm:pt modelId="{1F8D24AD-76B8-4E9E-977C-2751121B705F}" type="pres">
      <dgm:prSet presAssocID="{859F59F7-4B44-4EB3-9889-0FAFEC80C480}" presName="bgRect" presStyleLbl="bgShp" presStyleIdx="6" presStyleCnt="8"/>
      <dgm:spPr/>
    </dgm:pt>
    <dgm:pt modelId="{37CAE07E-2AC7-4079-A760-3DCCD4F25A3C}" type="pres">
      <dgm:prSet presAssocID="{859F59F7-4B44-4EB3-9889-0FAFEC80C480}"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tatistics"/>
        </a:ext>
      </dgm:extLst>
    </dgm:pt>
    <dgm:pt modelId="{C50C6436-AFCB-4F27-BA72-7FE0B690F3EE}" type="pres">
      <dgm:prSet presAssocID="{859F59F7-4B44-4EB3-9889-0FAFEC80C480}" presName="spaceRect" presStyleCnt="0"/>
      <dgm:spPr/>
    </dgm:pt>
    <dgm:pt modelId="{EA9F5A5E-9212-45A1-959E-17A98AA0FC1D}" type="pres">
      <dgm:prSet presAssocID="{859F59F7-4B44-4EB3-9889-0FAFEC80C480}" presName="parTx" presStyleLbl="revTx" presStyleIdx="6" presStyleCnt="8">
        <dgm:presLayoutVars>
          <dgm:chMax val="0"/>
          <dgm:chPref val="0"/>
        </dgm:presLayoutVars>
      </dgm:prSet>
      <dgm:spPr/>
    </dgm:pt>
    <dgm:pt modelId="{1273B1A0-EF0E-48BD-8F75-28BC0777A287}" type="pres">
      <dgm:prSet presAssocID="{57959227-3370-4DEB-B9AE-F8D2A85EF885}" presName="sibTrans" presStyleCnt="0"/>
      <dgm:spPr/>
    </dgm:pt>
    <dgm:pt modelId="{FC87D70C-46D2-41CA-902D-17F2DA9F8257}" type="pres">
      <dgm:prSet presAssocID="{7345E961-F275-4364-B14B-A35F6A4EA557}" presName="compNode" presStyleCnt="0"/>
      <dgm:spPr/>
    </dgm:pt>
    <dgm:pt modelId="{281BCFA5-9C7F-47D5-8C0C-49BD35D43C1D}" type="pres">
      <dgm:prSet presAssocID="{7345E961-F275-4364-B14B-A35F6A4EA557}" presName="bgRect" presStyleLbl="bgShp" presStyleIdx="7" presStyleCnt="8"/>
      <dgm:spPr/>
    </dgm:pt>
    <dgm:pt modelId="{B61FB322-EA81-4E84-AFA7-6B61CCEAA47C}" type="pres">
      <dgm:prSet presAssocID="{7345E961-F275-4364-B14B-A35F6A4EA557}"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Robot"/>
        </a:ext>
      </dgm:extLst>
    </dgm:pt>
    <dgm:pt modelId="{6B50CD23-B859-4870-8602-BA229B71B279}" type="pres">
      <dgm:prSet presAssocID="{7345E961-F275-4364-B14B-A35F6A4EA557}" presName="spaceRect" presStyleCnt="0"/>
      <dgm:spPr/>
    </dgm:pt>
    <dgm:pt modelId="{776B1D14-7D69-4B92-A016-F0EA17359ABA}" type="pres">
      <dgm:prSet presAssocID="{7345E961-F275-4364-B14B-A35F6A4EA557}" presName="parTx" presStyleLbl="revTx" presStyleIdx="7" presStyleCnt="8">
        <dgm:presLayoutVars>
          <dgm:chMax val="0"/>
          <dgm:chPref val="0"/>
        </dgm:presLayoutVars>
      </dgm:prSet>
      <dgm:spPr/>
    </dgm:pt>
  </dgm:ptLst>
  <dgm:cxnLst>
    <dgm:cxn modelId="{38A7AE07-DFB1-4598-80C2-F95C209F7C78}" type="presOf" srcId="{859F59F7-4B44-4EB3-9889-0FAFEC80C480}" destId="{EA9F5A5E-9212-45A1-959E-17A98AA0FC1D}" srcOrd="0" destOrd="0" presId="urn:microsoft.com/office/officeart/2018/2/layout/IconVerticalSolidList"/>
    <dgm:cxn modelId="{52692A0A-18C6-4CDB-88B1-444DE94E3976}" srcId="{23D84B41-D825-4386-A325-BB10169EA1C4}" destId="{1A6A94E5-5ADF-4C4D-9E0F-420388C1D6E1}" srcOrd="4" destOrd="0" parTransId="{093F7DE6-A3BA-4AA4-AB85-C21A7CCE9819}" sibTransId="{DCD106BD-FE17-4DD7-A104-16995DE3AFBF}"/>
    <dgm:cxn modelId="{7D97F10E-F8DA-417C-AA5F-31720EFFE165}" srcId="{23D84B41-D825-4386-A325-BB10169EA1C4}" destId="{C5FA55F2-D8D1-433A-8240-1DD598FE9879}" srcOrd="5" destOrd="0" parTransId="{9872F853-CFB2-4336-B263-C27FB9171758}" sibTransId="{A4A81380-4C1C-44D1-9E3F-CB863F087D94}"/>
    <dgm:cxn modelId="{8397671E-50C6-4193-AB8A-AC90D857FB73}" type="presOf" srcId="{974202FD-4F09-4EAD-A42C-6EC7B0624D2B}" destId="{88D0AB61-117C-49C8-A125-686368A6C507}" srcOrd="0" destOrd="0" presId="urn:microsoft.com/office/officeart/2018/2/layout/IconVerticalSolidList"/>
    <dgm:cxn modelId="{251BEE3A-D32A-4FDC-89DF-600A266B7352}" srcId="{23D84B41-D825-4386-A325-BB10169EA1C4}" destId="{974202FD-4F09-4EAD-A42C-6EC7B0624D2B}" srcOrd="0" destOrd="0" parTransId="{BB294AE9-2CD8-4795-9E58-B77B39E64D24}" sibTransId="{D425E92E-E1BA-40FA-8DCC-ADD8BDE97E84}"/>
    <dgm:cxn modelId="{9EE0955D-A599-469A-B925-5FAE6BD9F0A3}" srcId="{23D84B41-D825-4386-A325-BB10169EA1C4}" destId="{34371168-2D4E-4126-94F8-C1E41495FA16}" srcOrd="3" destOrd="0" parTransId="{4FE3A5C1-C7E9-4097-BC4F-A1BA2B334027}" sibTransId="{DD82A674-5E64-429E-B3E4-6F2059C5503A}"/>
    <dgm:cxn modelId="{B88E8E46-C7CE-4D9D-849C-8E6030F26B23}" type="presOf" srcId="{C5FA55F2-D8D1-433A-8240-1DD598FE9879}" destId="{35875556-D4CD-4144-B97A-529A96FC7846}" srcOrd="0" destOrd="0" presId="urn:microsoft.com/office/officeart/2018/2/layout/IconVerticalSolidList"/>
    <dgm:cxn modelId="{A8C75847-4A01-49E7-AC29-C210EC094D30}" srcId="{23D84B41-D825-4386-A325-BB10169EA1C4}" destId="{146A8600-F82B-4329-831F-784EF200B3B5}" srcOrd="1" destOrd="0" parTransId="{1BE00334-B77A-4055-9B5E-64FD31E9BBC7}" sibTransId="{0CF39401-B360-40C5-9C05-196BD30E3E84}"/>
    <dgm:cxn modelId="{2E2DB96E-D32F-453C-9F5D-E609BB407C78}" type="presOf" srcId="{1A6A94E5-5ADF-4C4D-9E0F-420388C1D6E1}" destId="{66AE8713-507C-4EBF-8D95-EC1C3336A3FC}" srcOrd="0" destOrd="0" presId="urn:microsoft.com/office/officeart/2018/2/layout/IconVerticalSolidList"/>
    <dgm:cxn modelId="{D22E6A72-89E3-41BA-AFE7-AADD7F0788C3}" type="presOf" srcId="{7345E961-F275-4364-B14B-A35F6A4EA557}" destId="{776B1D14-7D69-4B92-A016-F0EA17359ABA}" srcOrd="0" destOrd="0" presId="urn:microsoft.com/office/officeart/2018/2/layout/IconVerticalSolidList"/>
    <dgm:cxn modelId="{3BEDEE74-2299-4010-AAF1-F7D8695D99A8}" type="presOf" srcId="{23D84B41-D825-4386-A325-BB10169EA1C4}" destId="{F2263DAA-938D-4442-8121-4D538B13AB9F}" srcOrd="0" destOrd="0" presId="urn:microsoft.com/office/officeart/2018/2/layout/IconVerticalSolidList"/>
    <dgm:cxn modelId="{1BD4797F-2DE9-4543-8A29-561402E8A194}" type="presOf" srcId="{34371168-2D4E-4126-94F8-C1E41495FA16}" destId="{30F4D345-A81E-4B30-AB36-AAF48F998523}" srcOrd="0" destOrd="0" presId="urn:microsoft.com/office/officeart/2018/2/layout/IconVerticalSolidList"/>
    <dgm:cxn modelId="{7C3F37B3-B309-4C2E-A3AC-0F2FF78885ED}" type="presOf" srcId="{146A8600-F82B-4329-831F-784EF200B3B5}" destId="{184B3767-093E-45D7-8B5B-7AF259D17C22}" srcOrd="0" destOrd="0" presId="urn:microsoft.com/office/officeart/2018/2/layout/IconVerticalSolidList"/>
    <dgm:cxn modelId="{B6B030C0-08D4-497A-8D11-A2C86A719594}" type="presOf" srcId="{1B5D39C3-1B14-4532-89A0-64FC31D2D7D5}" destId="{E7A09477-4440-4297-B7C8-B1D58928829D}" srcOrd="0" destOrd="0" presId="urn:microsoft.com/office/officeart/2018/2/layout/IconVerticalSolidList"/>
    <dgm:cxn modelId="{12FA2BE4-498D-4237-BE29-D6962FCFEA5C}" srcId="{23D84B41-D825-4386-A325-BB10169EA1C4}" destId="{859F59F7-4B44-4EB3-9889-0FAFEC80C480}" srcOrd="6" destOrd="0" parTransId="{31BA5E5C-A6D2-4E0A-86CD-4AC8F6D182A4}" sibTransId="{57959227-3370-4DEB-B9AE-F8D2A85EF885}"/>
    <dgm:cxn modelId="{78E9BEEB-E7F7-41F0-A5BC-87DB17FD6FB8}" srcId="{23D84B41-D825-4386-A325-BB10169EA1C4}" destId="{1B5D39C3-1B14-4532-89A0-64FC31D2D7D5}" srcOrd="2" destOrd="0" parTransId="{BE85FBF9-63B1-4379-A9BF-E2FA21213063}" sibTransId="{EABF128F-1555-4D0A-BE09-4EC8CD19149E}"/>
    <dgm:cxn modelId="{A69056FD-6576-4DDD-A50A-6FB8456EAE49}" srcId="{23D84B41-D825-4386-A325-BB10169EA1C4}" destId="{7345E961-F275-4364-B14B-A35F6A4EA557}" srcOrd="7" destOrd="0" parTransId="{90D6AE4A-D127-4DC7-89F5-9F1FCC3113A7}" sibTransId="{D73DB50B-A7CB-4F4A-A67C-9C03F9D36D67}"/>
    <dgm:cxn modelId="{A7E34494-784E-48A1-8F21-9B380B1AF177}" type="presParOf" srcId="{F2263DAA-938D-4442-8121-4D538B13AB9F}" destId="{E22AB407-260C-4B11-B2A8-98679C97A9FD}" srcOrd="0" destOrd="0" presId="urn:microsoft.com/office/officeart/2018/2/layout/IconVerticalSolidList"/>
    <dgm:cxn modelId="{9B2837D4-42E4-4573-8C9F-7DF06BAF316D}" type="presParOf" srcId="{E22AB407-260C-4B11-B2A8-98679C97A9FD}" destId="{FC394A60-44E4-44C7-8DE2-951DB0F97225}" srcOrd="0" destOrd="0" presId="urn:microsoft.com/office/officeart/2018/2/layout/IconVerticalSolidList"/>
    <dgm:cxn modelId="{FB72BC79-D7D8-4B3E-9A3B-71794F78BFB7}" type="presParOf" srcId="{E22AB407-260C-4B11-B2A8-98679C97A9FD}" destId="{024E888A-EA56-4C43-B651-66B3281F6E41}" srcOrd="1" destOrd="0" presId="urn:microsoft.com/office/officeart/2018/2/layout/IconVerticalSolidList"/>
    <dgm:cxn modelId="{E0D8A800-1C9D-4671-B2EC-10BC32437283}" type="presParOf" srcId="{E22AB407-260C-4B11-B2A8-98679C97A9FD}" destId="{1088BEC6-BA13-4255-A576-63EA4FDD7E69}" srcOrd="2" destOrd="0" presId="urn:microsoft.com/office/officeart/2018/2/layout/IconVerticalSolidList"/>
    <dgm:cxn modelId="{EEDE365B-A264-4B18-9612-3494A9EAF703}" type="presParOf" srcId="{E22AB407-260C-4B11-B2A8-98679C97A9FD}" destId="{88D0AB61-117C-49C8-A125-686368A6C507}" srcOrd="3" destOrd="0" presId="urn:microsoft.com/office/officeart/2018/2/layout/IconVerticalSolidList"/>
    <dgm:cxn modelId="{7C702936-73E0-4E10-9B92-938905C84933}" type="presParOf" srcId="{F2263DAA-938D-4442-8121-4D538B13AB9F}" destId="{7F32300F-5F4C-4DE4-B803-9D6733D15E3A}" srcOrd="1" destOrd="0" presId="urn:microsoft.com/office/officeart/2018/2/layout/IconVerticalSolidList"/>
    <dgm:cxn modelId="{8BD03F8E-FE60-455E-8FF8-555FAFA8EFA9}" type="presParOf" srcId="{F2263DAA-938D-4442-8121-4D538B13AB9F}" destId="{99ED5FD7-2E48-4DFC-87B8-57372FB3E815}" srcOrd="2" destOrd="0" presId="urn:microsoft.com/office/officeart/2018/2/layout/IconVerticalSolidList"/>
    <dgm:cxn modelId="{ADB4C38E-ACBF-466C-A657-2F163F7BBEF6}" type="presParOf" srcId="{99ED5FD7-2E48-4DFC-87B8-57372FB3E815}" destId="{AB6ADE77-CCA3-45C5-BCAA-08323059F515}" srcOrd="0" destOrd="0" presId="urn:microsoft.com/office/officeart/2018/2/layout/IconVerticalSolidList"/>
    <dgm:cxn modelId="{924B26D2-1544-4EB7-99D5-B5015698F49B}" type="presParOf" srcId="{99ED5FD7-2E48-4DFC-87B8-57372FB3E815}" destId="{9919CFAE-8BE2-45D0-A881-D6E9B4BE2908}" srcOrd="1" destOrd="0" presId="urn:microsoft.com/office/officeart/2018/2/layout/IconVerticalSolidList"/>
    <dgm:cxn modelId="{D96062B9-347E-41DC-8445-8F39ECC84CCB}" type="presParOf" srcId="{99ED5FD7-2E48-4DFC-87B8-57372FB3E815}" destId="{F1DBF398-653B-4676-80C5-0BF58AAC5FA0}" srcOrd="2" destOrd="0" presId="urn:microsoft.com/office/officeart/2018/2/layout/IconVerticalSolidList"/>
    <dgm:cxn modelId="{816586D9-BBEE-43DD-84C4-63B0A1BA0AF5}" type="presParOf" srcId="{99ED5FD7-2E48-4DFC-87B8-57372FB3E815}" destId="{184B3767-093E-45D7-8B5B-7AF259D17C22}" srcOrd="3" destOrd="0" presId="urn:microsoft.com/office/officeart/2018/2/layout/IconVerticalSolidList"/>
    <dgm:cxn modelId="{A2FE01C3-B428-4352-8FBD-F4BDA2BA561D}" type="presParOf" srcId="{F2263DAA-938D-4442-8121-4D538B13AB9F}" destId="{BC347531-FA51-44B1-B86E-3009EE636499}" srcOrd="3" destOrd="0" presId="urn:microsoft.com/office/officeart/2018/2/layout/IconVerticalSolidList"/>
    <dgm:cxn modelId="{BB760166-310C-46CB-A9AB-171CB8628BF0}" type="presParOf" srcId="{F2263DAA-938D-4442-8121-4D538B13AB9F}" destId="{A85C7414-BE98-4C9E-9221-F9E319099847}" srcOrd="4" destOrd="0" presId="urn:microsoft.com/office/officeart/2018/2/layout/IconVerticalSolidList"/>
    <dgm:cxn modelId="{F6FA6157-C07E-44B6-B9E8-553C7B63A011}" type="presParOf" srcId="{A85C7414-BE98-4C9E-9221-F9E319099847}" destId="{95345B51-B614-422D-91A7-0FA845167FB1}" srcOrd="0" destOrd="0" presId="urn:microsoft.com/office/officeart/2018/2/layout/IconVerticalSolidList"/>
    <dgm:cxn modelId="{762E0942-AD72-43BC-B7A1-7A81A4CBFF05}" type="presParOf" srcId="{A85C7414-BE98-4C9E-9221-F9E319099847}" destId="{636F0358-E9E0-4598-85C7-3B83986365F4}" srcOrd="1" destOrd="0" presId="urn:microsoft.com/office/officeart/2018/2/layout/IconVerticalSolidList"/>
    <dgm:cxn modelId="{089BACC5-B647-491E-BAE6-8DD877C20BEA}" type="presParOf" srcId="{A85C7414-BE98-4C9E-9221-F9E319099847}" destId="{6A94BA88-706B-45C8-8DA5-11B012000555}" srcOrd="2" destOrd="0" presId="urn:microsoft.com/office/officeart/2018/2/layout/IconVerticalSolidList"/>
    <dgm:cxn modelId="{720CA0E9-E153-45DA-9010-8B22646D36F8}" type="presParOf" srcId="{A85C7414-BE98-4C9E-9221-F9E319099847}" destId="{E7A09477-4440-4297-B7C8-B1D58928829D}" srcOrd="3" destOrd="0" presId="urn:microsoft.com/office/officeart/2018/2/layout/IconVerticalSolidList"/>
    <dgm:cxn modelId="{94BB5239-5FFA-4309-88D3-496B8566999A}" type="presParOf" srcId="{F2263DAA-938D-4442-8121-4D538B13AB9F}" destId="{238B990A-AAB9-409E-9745-169B692EFBF4}" srcOrd="5" destOrd="0" presId="urn:microsoft.com/office/officeart/2018/2/layout/IconVerticalSolidList"/>
    <dgm:cxn modelId="{94E3F1DD-7315-40DE-B583-045C5DD85AFB}" type="presParOf" srcId="{F2263DAA-938D-4442-8121-4D538B13AB9F}" destId="{C8A19F78-9B1C-47F6-B220-4B62807471BE}" srcOrd="6" destOrd="0" presId="urn:microsoft.com/office/officeart/2018/2/layout/IconVerticalSolidList"/>
    <dgm:cxn modelId="{1CEBA01A-033E-4B17-A66E-98C84B55B6C2}" type="presParOf" srcId="{C8A19F78-9B1C-47F6-B220-4B62807471BE}" destId="{DA53915A-4392-4CC5-9FBB-080B79322219}" srcOrd="0" destOrd="0" presId="urn:microsoft.com/office/officeart/2018/2/layout/IconVerticalSolidList"/>
    <dgm:cxn modelId="{52F313BD-D917-4B08-BC1E-5E62CC00D049}" type="presParOf" srcId="{C8A19F78-9B1C-47F6-B220-4B62807471BE}" destId="{F6FA6A48-E7C8-4373-A6E2-2DD342FE641F}" srcOrd="1" destOrd="0" presId="urn:microsoft.com/office/officeart/2018/2/layout/IconVerticalSolidList"/>
    <dgm:cxn modelId="{EC159B0A-7B16-4BE4-919A-0E9ACCD151EE}" type="presParOf" srcId="{C8A19F78-9B1C-47F6-B220-4B62807471BE}" destId="{64B7ED55-54D3-4796-A8AF-1FE1FE4AC6FA}" srcOrd="2" destOrd="0" presId="urn:microsoft.com/office/officeart/2018/2/layout/IconVerticalSolidList"/>
    <dgm:cxn modelId="{C7F1DB66-7E14-44DB-A69E-5DBD174ADD96}" type="presParOf" srcId="{C8A19F78-9B1C-47F6-B220-4B62807471BE}" destId="{30F4D345-A81E-4B30-AB36-AAF48F998523}" srcOrd="3" destOrd="0" presId="urn:microsoft.com/office/officeart/2018/2/layout/IconVerticalSolidList"/>
    <dgm:cxn modelId="{6063767F-AAD8-4E40-BBB0-66A1A56AB398}" type="presParOf" srcId="{F2263DAA-938D-4442-8121-4D538B13AB9F}" destId="{1BE46CA4-E5D3-4906-BC51-98DDC7F24344}" srcOrd="7" destOrd="0" presId="urn:microsoft.com/office/officeart/2018/2/layout/IconVerticalSolidList"/>
    <dgm:cxn modelId="{058BE8B9-C542-49C3-8048-577DD246EDF2}" type="presParOf" srcId="{F2263DAA-938D-4442-8121-4D538B13AB9F}" destId="{84F27A46-E802-4928-B4A6-41600CE2D357}" srcOrd="8" destOrd="0" presId="urn:microsoft.com/office/officeart/2018/2/layout/IconVerticalSolidList"/>
    <dgm:cxn modelId="{763ABDBB-DBE2-4FA8-902B-B3240FD9FCF3}" type="presParOf" srcId="{84F27A46-E802-4928-B4A6-41600CE2D357}" destId="{3EF35803-3E72-4039-8160-5517ED26D2E9}" srcOrd="0" destOrd="0" presId="urn:microsoft.com/office/officeart/2018/2/layout/IconVerticalSolidList"/>
    <dgm:cxn modelId="{DB462830-770F-4695-8804-51F67B225978}" type="presParOf" srcId="{84F27A46-E802-4928-B4A6-41600CE2D357}" destId="{BB29122D-081F-4A8B-83B8-BA5B93EAF3D9}" srcOrd="1" destOrd="0" presId="urn:microsoft.com/office/officeart/2018/2/layout/IconVerticalSolidList"/>
    <dgm:cxn modelId="{52B456AC-0B02-4DB4-BDD0-1BF7D3B47C90}" type="presParOf" srcId="{84F27A46-E802-4928-B4A6-41600CE2D357}" destId="{E0887828-7E07-4509-AC94-2897AF55A9FB}" srcOrd="2" destOrd="0" presId="urn:microsoft.com/office/officeart/2018/2/layout/IconVerticalSolidList"/>
    <dgm:cxn modelId="{23857D2A-F3B7-4771-B654-1600707A052F}" type="presParOf" srcId="{84F27A46-E802-4928-B4A6-41600CE2D357}" destId="{66AE8713-507C-4EBF-8D95-EC1C3336A3FC}" srcOrd="3" destOrd="0" presId="urn:microsoft.com/office/officeart/2018/2/layout/IconVerticalSolidList"/>
    <dgm:cxn modelId="{4EB856CB-B913-4495-AF7B-EC2C11320B2F}" type="presParOf" srcId="{F2263DAA-938D-4442-8121-4D538B13AB9F}" destId="{B6DADEDC-86E7-4796-8E11-CCA79C4FD109}" srcOrd="9" destOrd="0" presId="urn:microsoft.com/office/officeart/2018/2/layout/IconVerticalSolidList"/>
    <dgm:cxn modelId="{70331D32-09C2-42A4-B248-6954D41F082B}" type="presParOf" srcId="{F2263DAA-938D-4442-8121-4D538B13AB9F}" destId="{794B70CF-A4C9-4ECC-A275-7AB6C9E868D4}" srcOrd="10" destOrd="0" presId="urn:microsoft.com/office/officeart/2018/2/layout/IconVerticalSolidList"/>
    <dgm:cxn modelId="{36E2AF2F-CB21-4FA1-B1FC-2A40F060C01E}" type="presParOf" srcId="{794B70CF-A4C9-4ECC-A275-7AB6C9E868D4}" destId="{50C69672-A16D-4488-9B0F-C5DDFDC25320}" srcOrd="0" destOrd="0" presId="urn:microsoft.com/office/officeart/2018/2/layout/IconVerticalSolidList"/>
    <dgm:cxn modelId="{39E8C15B-346F-4A52-97C0-D4EBF0D0D682}" type="presParOf" srcId="{794B70CF-A4C9-4ECC-A275-7AB6C9E868D4}" destId="{830E88DF-F1E5-4075-B2A8-700F448A19B1}" srcOrd="1" destOrd="0" presId="urn:microsoft.com/office/officeart/2018/2/layout/IconVerticalSolidList"/>
    <dgm:cxn modelId="{4C0B27EA-A085-446E-B4BF-6D85AD97B7B6}" type="presParOf" srcId="{794B70CF-A4C9-4ECC-A275-7AB6C9E868D4}" destId="{2C11AC41-E258-48E0-9B16-C1FAB98D21C4}" srcOrd="2" destOrd="0" presId="urn:microsoft.com/office/officeart/2018/2/layout/IconVerticalSolidList"/>
    <dgm:cxn modelId="{04B31B0C-1119-44C7-A4BD-474B07ECFF10}" type="presParOf" srcId="{794B70CF-A4C9-4ECC-A275-7AB6C9E868D4}" destId="{35875556-D4CD-4144-B97A-529A96FC7846}" srcOrd="3" destOrd="0" presId="urn:microsoft.com/office/officeart/2018/2/layout/IconVerticalSolidList"/>
    <dgm:cxn modelId="{EB88496A-65CC-487B-B59B-116D0D4B485C}" type="presParOf" srcId="{F2263DAA-938D-4442-8121-4D538B13AB9F}" destId="{60AC51B4-AC42-4083-968D-29FE7C7A3523}" srcOrd="11" destOrd="0" presId="urn:microsoft.com/office/officeart/2018/2/layout/IconVerticalSolidList"/>
    <dgm:cxn modelId="{F1113849-BF5D-42EE-88E4-4E35700EF5F9}" type="presParOf" srcId="{F2263DAA-938D-4442-8121-4D538B13AB9F}" destId="{31A5D527-FC18-42F9-A5A9-51C0DA08EEA5}" srcOrd="12" destOrd="0" presId="urn:microsoft.com/office/officeart/2018/2/layout/IconVerticalSolidList"/>
    <dgm:cxn modelId="{7FFDF664-1BC3-4C55-A31A-B063ACC518C6}" type="presParOf" srcId="{31A5D527-FC18-42F9-A5A9-51C0DA08EEA5}" destId="{1F8D24AD-76B8-4E9E-977C-2751121B705F}" srcOrd="0" destOrd="0" presId="urn:microsoft.com/office/officeart/2018/2/layout/IconVerticalSolidList"/>
    <dgm:cxn modelId="{0EBDB691-C329-4F0B-A8FD-E8ACA012688D}" type="presParOf" srcId="{31A5D527-FC18-42F9-A5A9-51C0DA08EEA5}" destId="{37CAE07E-2AC7-4079-A760-3DCCD4F25A3C}" srcOrd="1" destOrd="0" presId="urn:microsoft.com/office/officeart/2018/2/layout/IconVerticalSolidList"/>
    <dgm:cxn modelId="{F265D405-BC65-42F3-8703-427096F886C2}" type="presParOf" srcId="{31A5D527-FC18-42F9-A5A9-51C0DA08EEA5}" destId="{C50C6436-AFCB-4F27-BA72-7FE0B690F3EE}" srcOrd="2" destOrd="0" presId="urn:microsoft.com/office/officeart/2018/2/layout/IconVerticalSolidList"/>
    <dgm:cxn modelId="{1628F767-1563-4941-830A-40F1B2A866A0}" type="presParOf" srcId="{31A5D527-FC18-42F9-A5A9-51C0DA08EEA5}" destId="{EA9F5A5E-9212-45A1-959E-17A98AA0FC1D}" srcOrd="3" destOrd="0" presId="urn:microsoft.com/office/officeart/2018/2/layout/IconVerticalSolidList"/>
    <dgm:cxn modelId="{097B1694-A66D-4C5D-BDE8-4AF70E59882E}" type="presParOf" srcId="{F2263DAA-938D-4442-8121-4D538B13AB9F}" destId="{1273B1A0-EF0E-48BD-8F75-28BC0777A287}" srcOrd="13" destOrd="0" presId="urn:microsoft.com/office/officeart/2018/2/layout/IconVerticalSolidList"/>
    <dgm:cxn modelId="{E2D5198E-02B5-460C-9B83-1423DFC68FBF}" type="presParOf" srcId="{F2263DAA-938D-4442-8121-4D538B13AB9F}" destId="{FC87D70C-46D2-41CA-902D-17F2DA9F8257}" srcOrd="14" destOrd="0" presId="urn:microsoft.com/office/officeart/2018/2/layout/IconVerticalSolidList"/>
    <dgm:cxn modelId="{0766D19D-7FD9-443C-A555-023724DA6326}" type="presParOf" srcId="{FC87D70C-46D2-41CA-902D-17F2DA9F8257}" destId="{281BCFA5-9C7F-47D5-8C0C-49BD35D43C1D}" srcOrd="0" destOrd="0" presId="urn:microsoft.com/office/officeart/2018/2/layout/IconVerticalSolidList"/>
    <dgm:cxn modelId="{0EE350F6-7E82-4BEF-97CE-00BA302AAB76}" type="presParOf" srcId="{FC87D70C-46D2-41CA-902D-17F2DA9F8257}" destId="{B61FB322-EA81-4E84-AFA7-6B61CCEAA47C}" srcOrd="1" destOrd="0" presId="urn:microsoft.com/office/officeart/2018/2/layout/IconVerticalSolidList"/>
    <dgm:cxn modelId="{9F85E5DD-75BA-4768-9BBB-07E9C916CB21}" type="presParOf" srcId="{FC87D70C-46D2-41CA-902D-17F2DA9F8257}" destId="{6B50CD23-B859-4870-8602-BA229B71B279}" srcOrd="2" destOrd="0" presId="urn:microsoft.com/office/officeart/2018/2/layout/IconVerticalSolidList"/>
    <dgm:cxn modelId="{ABF1E253-00A8-4EB7-8EE4-FD4979B91AA6}" type="presParOf" srcId="{FC87D70C-46D2-41CA-902D-17F2DA9F8257}" destId="{776B1D14-7D69-4B92-A016-F0EA17359AB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456C46-CDE7-48B3-8A1C-6F5354F1EA9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27C1CFD-0399-4462-9F2E-0DB2A4D5425C}">
      <dgm:prSet/>
      <dgm:spPr/>
      <dgm:t>
        <a:bodyPr/>
        <a:lstStyle/>
        <a:p>
          <a:r>
            <a:rPr lang="en-IN"/>
            <a:t>Missing Values Check</a:t>
          </a:r>
          <a:endParaRPr lang="en-US"/>
        </a:p>
      </dgm:t>
    </dgm:pt>
    <dgm:pt modelId="{41FCA174-06D2-4B53-9732-3EB99E4DDF25}" type="parTrans" cxnId="{E74EB23C-7DE5-4261-A319-6C244705402B}">
      <dgm:prSet/>
      <dgm:spPr/>
      <dgm:t>
        <a:bodyPr/>
        <a:lstStyle/>
        <a:p>
          <a:endParaRPr lang="en-US"/>
        </a:p>
      </dgm:t>
    </dgm:pt>
    <dgm:pt modelId="{5E3B2821-1A2F-4E36-9969-68684A684B03}" type="sibTrans" cxnId="{E74EB23C-7DE5-4261-A319-6C244705402B}">
      <dgm:prSet/>
      <dgm:spPr/>
      <dgm:t>
        <a:bodyPr/>
        <a:lstStyle/>
        <a:p>
          <a:endParaRPr lang="en-US"/>
        </a:p>
      </dgm:t>
    </dgm:pt>
    <dgm:pt modelId="{F9DF69E3-DDF8-4BA6-9E27-929A94BDFEA7}">
      <dgm:prSet/>
      <dgm:spPr/>
      <dgm:t>
        <a:bodyPr/>
        <a:lstStyle/>
        <a:p>
          <a:r>
            <a:rPr lang="en-IN"/>
            <a:t>Initially, df.isnull().sum() was used to check for missing values across all columns. The output showed that there were no missing values present in the dataset at that stage. This indicates a relatively clean dataset from the start.</a:t>
          </a:r>
          <a:endParaRPr lang="en-US"/>
        </a:p>
      </dgm:t>
    </dgm:pt>
    <dgm:pt modelId="{50912D16-D6C9-42B7-95B5-C1E65220E88F}" type="parTrans" cxnId="{60C5E783-2CE8-476F-A668-CD14C31D8A72}">
      <dgm:prSet/>
      <dgm:spPr/>
      <dgm:t>
        <a:bodyPr/>
        <a:lstStyle/>
        <a:p>
          <a:endParaRPr lang="en-US"/>
        </a:p>
      </dgm:t>
    </dgm:pt>
    <dgm:pt modelId="{76299BD1-BAE9-4C5B-BB0C-AFB478AF3050}" type="sibTrans" cxnId="{60C5E783-2CE8-476F-A668-CD14C31D8A72}">
      <dgm:prSet/>
      <dgm:spPr/>
      <dgm:t>
        <a:bodyPr/>
        <a:lstStyle/>
        <a:p>
          <a:endParaRPr lang="en-US"/>
        </a:p>
      </dgm:t>
    </dgm:pt>
    <dgm:pt modelId="{3874F419-6C74-416C-90E2-D6D2E2390F37}">
      <dgm:prSet/>
      <dgm:spPr/>
      <dgm:t>
        <a:bodyPr/>
        <a:lstStyle/>
        <a:p>
          <a:r>
            <a:rPr lang="en-IN"/>
            <a:t>Handling Missing Values (Robust Practice)</a:t>
          </a:r>
          <a:endParaRPr lang="en-US"/>
        </a:p>
      </dgm:t>
    </dgm:pt>
    <dgm:pt modelId="{BFB18EC1-6FA0-44AD-9D9F-295A3A59BBE1}" type="parTrans" cxnId="{E3183245-DE85-426D-A487-5182AD833A9A}">
      <dgm:prSet/>
      <dgm:spPr/>
      <dgm:t>
        <a:bodyPr/>
        <a:lstStyle/>
        <a:p>
          <a:endParaRPr lang="en-US"/>
        </a:p>
      </dgm:t>
    </dgm:pt>
    <dgm:pt modelId="{98D7D257-8ECA-428A-BB73-DB0A3D66D521}" type="sibTrans" cxnId="{E3183245-DE85-426D-A487-5182AD833A9A}">
      <dgm:prSet/>
      <dgm:spPr/>
      <dgm:t>
        <a:bodyPr/>
        <a:lstStyle/>
        <a:p>
          <a:endParaRPr lang="en-US"/>
        </a:p>
      </dgm:t>
    </dgm:pt>
    <dgm:pt modelId="{834721F0-9182-4787-A49B-AED45B41FEA7}">
      <dgm:prSet/>
      <dgm:spPr/>
      <dgm:t>
        <a:bodyPr/>
        <a:lstStyle/>
        <a:p>
          <a:r>
            <a:rPr lang="en-IN"/>
            <a:t>Despite no missing values being found initially, a robust practice was applied to handle potential missing values for future data or if any were introduced during preprocessing:</a:t>
          </a:r>
          <a:endParaRPr lang="en-US"/>
        </a:p>
      </dgm:t>
    </dgm:pt>
    <dgm:pt modelId="{CA4C2B02-D407-4DDD-9251-A742FA57F4C3}" type="parTrans" cxnId="{AB16B082-F6BB-489D-8F2A-C803558D58A0}">
      <dgm:prSet/>
      <dgm:spPr/>
      <dgm:t>
        <a:bodyPr/>
        <a:lstStyle/>
        <a:p>
          <a:endParaRPr lang="en-US"/>
        </a:p>
      </dgm:t>
    </dgm:pt>
    <dgm:pt modelId="{3CC50C0C-E5E5-483F-AE53-0974A84536E5}" type="sibTrans" cxnId="{AB16B082-F6BB-489D-8F2A-C803558D58A0}">
      <dgm:prSet/>
      <dgm:spPr/>
      <dgm:t>
        <a:bodyPr/>
        <a:lstStyle/>
        <a:p>
          <a:endParaRPr lang="en-US"/>
        </a:p>
      </dgm:t>
    </dgm:pt>
    <dgm:pt modelId="{224F6AE6-AA63-4599-AE8E-8B0A5E2C34AE}">
      <dgm:prSet/>
      <dgm:spPr/>
      <dgm:t>
        <a:bodyPr/>
        <a:lstStyle/>
        <a:p>
          <a:r>
            <a:rPr lang="en-IN" b="1"/>
            <a:t>Numerical Missing Values</a:t>
          </a:r>
          <a:r>
            <a:rPr lang="en-IN"/>
            <a:t>: For all numerical columns (e.g., int64, float64), NaN values would have been filled with the median of their respective columns. This approach (df[col] = df[col].fillna(df[col].median())) is less sensitive to outliers than mean imputation.</a:t>
          </a:r>
          <a:endParaRPr lang="en-US"/>
        </a:p>
      </dgm:t>
    </dgm:pt>
    <dgm:pt modelId="{334002F6-0527-48AB-9FFD-97800AA2678E}" type="parTrans" cxnId="{468FD60E-04F2-4DDB-A31B-7D74E07A8DB6}">
      <dgm:prSet/>
      <dgm:spPr/>
      <dgm:t>
        <a:bodyPr/>
        <a:lstStyle/>
        <a:p>
          <a:endParaRPr lang="en-US"/>
        </a:p>
      </dgm:t>
    </dgm:pt>
    <dgm:pt modelId="{9438F047-2474-4507-8FCE-DE4DD997B999}" type="sibTrans" cxnId="{468FD60E-04F2-4DDB-A31B-7D74E07A8DB6}">
      <dgm:prSet/>
      <dgm:spPr/>
      <dgm:t>
        <a:bodyPr/>
        <a:lstStyle/>
        <a:p>
          <a:endParaRPr lang="en-US"/>
        </a:p>
      </dgm:t>
    </dgm:pt>
    <dgm:pt modelId="{7F5091EA-7B67-4255-A9BA-CF13A61A9904}">
      <dgm:prSet/>
      <dgm:spPr/>
      <dgm:t>
        <a:bodyPr/>
        <a:lstStyle/>
        <a:p>
          <a:r>
            <a:rPr lang="en-IN" b="1"/>
            <a:t>Categorical Missing Values</a:t>
          </a:r>
          <a:r>
            <a:rPr lang="en-IN"/>
            <a:t>: For all categorical columns (e.g., object), NaN values would have been filled with the mode (most frequent value) of their respective columns. This approach (df[col] = df[col].fillna(df[col].mode()[0])) is suitable for non-numeric data.</a:t>
          </a:r>
          <a:endParaRPr lang="en-US"/>
        </a:p>
      </dgm:t>
    </dgm:pt>
    <dgm:pt modelId="{5B4B328B-21F5-4F04-95DC-10303D7B2302}" type="parTrans" cxnId="{92CC4519-7005-4D14-BD1B-F6F514D393A2}">
      <dgm:prSet/>
      <dgm:spPr/>
      <dgm:t>
        <a:bodyPr/>
        <a:lstStyle/>
        <a:p>
          <a:endParaRPr lang="en-US"/>
        </a:p>
      </dgm:t>
    </dgm:pt>
    <dgm:pt modelId="{F891CD5E-CE55-4AC0-B13B-09A7EAB32D3B}" type="sibTrans" cxnId="{92CC4519-7005-4D14-BD1B-F6F514D393A2}">
      <dgm:prSet/>
      <dgm:spPr/>
      <dgm:t>
        <a:bodyPr/>
        <a:lstStyle/>
        <a:p>
          <a:endParaRPr lang="en-US"/>
        </a:p>
      </dgm:t>
    </dgm:pt>
    <dgm:pt modelId="{31DFD0D5-05BE-4026-AE18-C76D3635C6B1}" type="pres">
      <dgm:prSet presAssocID="{B6456C46-CDE7-48B3-8A1C-6F5354F1EA98}" presName="linear" presStyleCnt="0">
        <dgm:presLayoutVars>
          <dgm:animLvl val="lvl"/>
          <dgm:resizeHandles val="exact"/>
        </dgm:presLayoutVars>
      </dgm:prSet>
      <dgm:spPr/>
    </dgm:pt>
    <dgm:pt modelId="{EAA10367-131F-4E4B-8D7E-B73397F4BF3F}" type="pres">
      <dgm:prSet presAssocID="{127C1CFD-0399-4462-9F2E-0DB2A4D5425C}" presName="parentText" presStyleLbl="node1" presStyleIdx="0" presStyleCnt="6">
        <dgm:presLayoutVars>
          <dgm:chMax val="0"/>
          <dgm:bulletEnabled val="1"/>
        </dgm:presLayoutVars>
      </dgm:prSet>
      <dgm:spPr/>
    </dgm:pt>
    <dgm:pt modelId="{7D6840D1-256A-4BB4-86DF-3FA26E8DC35A}" type="pres">
      <dgm:prSet presAssocID="{5E3B2821-1A2F-4E36-9969-68684A684B03}" presName="spacer" presStyleCnt="0"/>
      <dgm:spPr/>
    </dgm:pt>
    <dgm:pt modelId="{6B04AF13-9D52-4D54-A26C-9979C9474ED4}" type="pres">
      <dgm:prSet presAssocID="{F9DF69E3-DDF8-4BA6-9E27-929A94BDFEA7}" presName="parentText" presStyleLbl="node1" presStyleIdx="1" presStyleCnt="6">
        <dgm:presLayoutVars>
          <dgm:chMax val="0"/>
          <dgm:bulletEnabled val="1"/>
        </dgm:presLayoutVars>
      </dgm:prSet>
      <dgm:spPr/>
    </dgm:pt>
    <dgm:pt modelId="{CE4E313C-3107-4DC6-A019-492DB7E2B72C}" type="pres">
      <dgm:prSet presAssocID="{76299BD1-BAE9-4C5B-BB0C-AFB478AF3050}" presName="spacer" presStyleCnt="0"/>
      <dgm:spPr/>
    </dgm:pt>
    <dgm:pt modelId="{C1DDE6A2-B254-4DB5-A502-28FA48641479}" type="pres">
      <dgm:prSet presAssocID="{3874F419-6C74-416C-90E2-D6D2E2390F37}" presName="parentText" presStyleLbl="node1" presStyleIdx="2" presStyleCnt="6">
        <dgm:presLayoutVars>
          <dgm:chMax val="0"/>
          <dgm:bulletEnabled val="1"/>
        </dgm:presLayoutVars>
      </dgm:prSet>
      <dgm:spPr/>
    </dgm:pt>
    <dgm:pt modelId="{2169EED9-3972-4C8F-8BFA-C6A385024256}" type="pres">
      <dgm:prSet presAssocID="{98D7D257-8ECA-428A-BB73-DB0A3D66D521}" presName="spacer" presStyleCnt="0"/>
      <dgm:spPr/>
    </dgm:pt>
    <dgm:pt modelId="{7F75EAA8-809F-46B0-9869-D7E4D8D7B0E6}" type="pres">
      <dgm:prSet presAssocID="{834721F0-9182-4787-A49B-AED45B41FEA7}" presName="parentText" presStyleLbl="node1" presStyleIdx="3" presStyleCnt="6">
        <dgm:presLayoutVars>
          <dgm:chMax val="0"/>
          <dgm:bulletEnabled val="1"/>
        </dgm:presLayoutVars>
      </dgm:prSet>
      <dgm:spPr/>
    </dgm:pt>
    <dgm:pt modelId="{EC05F886-3455-4602-A423-6412A2C79C09}" type="pres">
      <dgm:prSet presAssocID="{3CC50C0C-E5E5-483F-AE53-0974A84536E5}" presName="spacer" presStyleCnt="0"/>
      <dgm:spPr/>
    </dgm:pt>
    <dgm:pt modelId="{9B7CC2D5-243E-419B-BC79-A5BB4BF26B91}" type="pres">
      <dgm:prSet presAssocID="{224F6AE6-AA63-4599-AE8E-8B0A5E2C34AE}" presName="parentText" presStyleLbl="node1" presStyleIdx="4" presStyleCnt="6">
        <dgm:presLayoutVars>
          <dgm:chMax val="0"/>
          <dgm:bulletEnabled val="1"/>
        </dgm:presLayoutVars>
      </dgm:prSet>
      <dgm:spPr/>
    </dgm:pt>
    <dgm:pt modelId="{E5E3017A-B746-4415-A15E-8E5A1309E9D0}" type="pres">
      <dgm:prSet presAssocID="{9438F047-2474-4507-8FCE-DE4DD997B999}" presName="spacer" presStyleCnt="0"/>
      <dgm:spPr/>
    </dgm:pt>
    <dgm:pt modelId="{0041C86F-59DC-4D76-9AE1-F399A48E553C}" type="pres">
      <dgm:prSet presAssocID="{7F5091EA-7B67-4255-A9BA-CF13A61A9904}" presName="parentText" presStyleLbl="node1" presStyleIdx="5" presStyleCnt="6">
        <dgm:presLayoutVars>
          <dgm:chMax val="0"/>
          <dgm:bulletEnabled val="1"/>
        </dgm:presLayoutVars>
      </dgm:prSet>
      <dgm:spPr/>
    </dgm:pt>
  </dgm:ptLst>
  <dgm:cxnLst>
    <dgm:cxn modelId="{468FD60E-04F2-4DDB-A31B-7D74E07A8DB6}" srcId="{B6456C46-CDE7-48B3-8A1C-6F5354F1EA98}" destId="{224F6AE6-AA63-4599-AE8E-8B0A5E2C34AE}" srcOrd="4" destOrd="0" parTransId="{334002F6-0527-48AB-9FFD-97800AA2678E}" sibTransId="{9438F047-2474-4507-8FCE-DE4DD997B999}"/>
    <dgm:cxn modelId="{92CC4519-7005-4D14-BD1B-F6F514D393A2}" srcId="{B6456C46-CDE7-48B3-8A1C-6F5354F1EA98}" destId="{7F5091EA-7B67-4255-A9BA-CF13A61A9904}" srcOrd="5" destOrd="0" parTransId="{5B4B328B-21F5-4F04-95DC-10303D7B2302}" sibTransId="{F891CD5E-CE55-4AC0-B13B-09A7EAB32D3B}"/>
    <dgm:cxn modelId="{E487D62B-534A-462D-B8C5-056EF302CB25}" type="presOf" srcId="{3874F419-6C74-416C-90E2-D6D2E2390F37}" destId="{C1DDE6A2-B254-4DB5-A502-28FA48641479}" srcOrd="0" destOrd="0" presId="urn:microsoft.com/office/officeart/2005/8/layout/vList2"/>
    <dgm:cxn modelId="{3F2C152F-67C2-43AF-9C57-3F9758D12DA6}" type="presOf" srcId="{224F6AE6-AA63-4599-AE8E-8B0A5E2C34AE}" destId="{9B7CC2D5-243E-419B-BC79-A5BB4BF26B91}" srcOrd="0" destOrd="0" presId="urn:microsoft.com/office/officeart/2005/8/layout/vList2"/>
    <dgm:cxn modelId="{83F27D34-75E6-4F58-ADFE-6A862A048B25}" type="presOf" srcId="{7F5091EA-7B67-4255-A9BA-CF13A61A9904}" destId="{0041C86F-59DC-4D76-9AE1-F399A48E553C}" srcOrd="0" destOrd="0" presId="urn:microsoft.com/office/officeart/2005/8/layout/vList2"/>
    <dgm:cxn modelId="{E74EB23C-7DE5-4261-A319-6C244705402B}" srcId="{B6456C46-CDE7-48B3-8A1C-6F5354F1EA98}" destId="{127C1CFD-0399-4462-9F2E-0DB2A4D5425C}" srcOrd="0" destOrd="0" parTransId="{41FCA174-06D2-4B53-9732-3EB99E4DDF25}" sibTransId="{5E3B2821-1A2F-4E36-9969-68684A684B03}"/>
    <dgm:cxn modelId="{E3183245-DE85-426D-A487-5182AD833A9A}" srcId="{B6456C46-CDE7-48B3-8A1C-6F5354F1EA98}" destId="{3874F419-6C74-416C-90E2-D6D2E2390F37}" srcOrd="2" destOrd="0" parTransId="{BFB18EC1-6FA0-44AD-9D9F-295A3A59BBE1}" sibTransId="{98D7D257-8ECA-428A-BB73-DB0A3D66D521}"/>
    <dgm:cxn modelId="{7D5FE34C-D401-4FC4-BD40-2826C39C4486}" type="presOf" srcId="{127C1CFD-0399-4462-9F2E-0DB2A4D5425C}" destId="{EAA10367-131F-4E4B-8D7E-B73397F4BF3F}" srcOrd="0" destOrd="0" presId="urn:microsoft.com/office/officeart/2005/8/layout/vList2"/>
    <dgm:cxn modelId="{AB16B082-F6BB-489D-8F2A-C803558D58A0}" srcId="{B6456C46-CDE7-48B3-8A1C-6F5354F1EA98}" destId="{834721F0-9182-4787-A49B-AED45B41FEA7}" srcOrd="3" destOrd="0" parTransId="{CA4C2B02-D407-4DDD-9251-A742FA57F4C3}" sibTransId="{3CC50C0C-E5E5-483F-AE53-0974A84536E5}"/>
    <dgm:cxn modelId="{60C5E783-2CE8-476F-A668-CD14C31D8A72}" srcId="{B6456C46-CDE7-48B3-8A1C-6F5354F1EA98}" destId="{F9DF69E3-DDF8-4BA6-9E27-929A94BDFEA7}" srcOrd="1" destOrd="0" parTransId="{50912D16-D6C9-42B7-95B5-C1E65220E88F}" sibTransId="{76299BD1-BAE9-4C5B-BB0C-AFB478AF3050}"/>
    <dgm:cxn modelId="{9F6A7888-213E-4099-A192-512F423B2449}" type="presOf" srcId="{834721F0-9182-4787-A49B-AED45B41FEA7}" destId="{7F75EAA8-809F-46B0-9869-D7E4D8D7B0E6}" srcOrd="0" destOrd="0" presId="urn:microsoft.com/office/officeart/2005/8/layout/vList2"/>
    <dgm:cxn modelId="{8D1EEF8F-D72D-4849-91DF-38A1793DAB9C}" type="presOf" srcId="{B6456C46-CDE7-48B3-8A1C-6F5354F1EA98}" destId="{31DFD0D5-05BE-4026-AE18-C76D3635C6B1}" srcOrd="0" destOrd="0" presId="urn:microsoft.com/office/officeart/2005/8/layout/vList2"/>
    <dgm:cxn modelId="{0B50D7D9-4D28-4A4B-ABB3-ED02AF85F3FB}" type="presOf" srcId="{F9DF69E3-DDF8-4BA6-9E27-929A94BDFEA7}" destId="{6B04AF13-9D52-4D54-A26C-9979C9474ED4}" srcOrd="0" destOrd="0" presId="urn:microsoft.com/office/officeart/2005/8/layout/vList2"/>
    <dgm:cxn modelId="{5EAED162-E8BB-48D1-A4AF-7134040B674E}" type="presParOf" srcId="{31DFD0D5-05BE-4026-AE18-C76D3635C6B1}" destId="{EAA10367-131F-4E4B-8D7E-B73397F4BF3F}" srcOrd="0" destOrd="0" presId="urn:microsoft.com/office/officeart/2005/8/layout/vList2"/>
    <dgm:cxn modelId="{FE25A9C3-0E3C-428C-8970-97201D09BE17}" type="presParOf" srcId="{31DFD0D5-05BE-4026-AE18-C76D3635C6B1}" destId="{7D6840D1-256A-4BB4-86DF-3FA26E8DC35A}" srcOrd="1" destOrd="0" presId="urn:microsoft.com/office/officeart/2005/8/layout/vList2"/>
    <dgm:cxn modelId="{88EE388E-6315-4565-A983-7B6F1F973165}" type="presParOf" srcId="{31DFD0D5-05BE-4026-AE18-C76D3635C6B1}" destId="{6B04AF13-9D52-4D54-A26C-9979C9474ED4}" srcOrd="2" destOrd="0" presId="urn:microsoft.com/office/officeart/2005/8/layout/vList2"/>
    <dgm:cxn modelId="{49F24170-2D89-4C4E-BBAB-B8D14DCC7810}" type="presParOf" srcId="{31DFD0D5-05BE-4026-AE18-C76D3635C6B1}" destId="{CE4E313C-3107-4DC6-A019-492DB7E2B72C}" srcOrd="3" destOrd="0" presId="urn:microsoft.com/office/officeart/2005/8/layout/vList2"/>
    <dgm:cxn modelId="{19DA53F0-BEC4-4042-859B-B551AC7DA95A}" type="presParOf" srcId="{31DFD0D5-05BE-4026-AE18-C76D3635C6B1}" destId="{C1DDE6A2-B254-4DB5-A502-28FA48641479}" srcOrd="4" destOrd="0" presId="urn:microsoft.com/office/officeart/2005/8/layout/vList2"/>
    <dgm:cxn modelId="{30A3509A-EFD8-4E56-BA33-E95728EC1D62}" type="presParOf" srcId="{31DFD0D5-05BE-4026-AE18-C76D3635C6B1}" destId="{2169EED9-3972-4C8F-8BFA-C6A385024256}" srcOrd="5" destOrd="0" presId="urn:microsoft.com/office/officeart/2005/8/layout/vList2"/>
    <dgm:cxn modelId="{CB662ADA-63F7-4822-B4EA-41F6C3AB0AFF}" type="presParOf" srcId="{31DFD0D5-05BE-4026-AE18-C76D3635C6B1}" destId="{7F75EAA8-809F-46B0-9869-D7E4D8D7B0E6}" srcOrd="6" destOrd="0" presId="urn:microsoft.com/office/officeart/2005/8/layout/vList2"/>
    <dgm:cxn modelId="{98A74F90-F8FA-4E3E-B0D7-D5D30C489286}" type="presParOf" srcId="{31DFD0D5-05BE-4026-AE18-C76D3635C6B1}" destId="{EC05F886-3455-4602-A423-6412A2C79C09}" srcOrd="7" destOrd="0" presId="urn:microsoft.com/office/officeart/2005/8/layout/vList2"/>
    <dgm:cxn modelId="{D4958996-5662-44B6-A8EA-B4E9A0F777BB}" type="presParOf" srcId="{31DFD0D5-05BE-4026-AE18-C76D3635C6B1}" destId="{9B7CC2D5-243E-419B-BC79-A5BB4BF26B91}" srcOrd="8" destOrd="0" presId="urn:microsoft.com/office/officeart/2005/8/layout/vList2"/>
    <dgm:cxn modelId="{01E42439-257A-414B-A024-9EE6F794DA74}" type="presParOf" srcId="{31DFD0D5-05BE-4026-AE18-C76D3635C6B1}" destId="{E5E3017A-B746-4415-A15E-8E5A1309E9D0}" srcOrd="9" destOrd="0" presId="urn:microsoft.com/office/officeart/2005/8/layout/vList2"/>
    <dgm:cxn modelId="{3FDAF4BC-FF94-44C7-A0BE-D4C36443E24A}" type="presParOf" srcId="{31DFD0D5-05BE-4026-AE18-C76D3635C6B1}" destId="{0041C86F-59DC-4D76-9AE1-F399A48E553C}"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94A60-44E4-44C7-8DE2-951DB0F97225}">
      <dsp:nvSpPr>
        <dsp:cNvPr id="0" name=""/>
        <dsp:cNvSpPr/>
      </dsp:nvSpPr>
      <dsp:spPr>
        <a:xfrm>
          <a:off x="0" y="3283"/>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4E888A-EA56-4C43-B651-66B3281F6E41}">
      <dsp:nvSpPr>
        <dsp:cNvPr id="0" name=""/>
        <dsp:cNvSpPr/>
      </dsp:nvSpPr>
      <dsp:spPr>
        <a:xfrm>
          <a:off x="124069" y="95566"/>
          <a:ext cx="225802" cy="2255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D0AB61-117C-49C8-A125-686368A6C507}">
      <dsp:nvSpPr>
        <dsp:cNvPr id="0" name=""/>
        <dsp:cNvSpPr/>
      </dsp:nvSpPr>
      <dsp:spPr>
        <a:xfrm>
          <a:off x="473941" y="3283"/>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kern="1200" dirty="0"/>
            <a:t>This project aims to predict the prices of mobile phones using a provided dataset. By leveraging various features of mobile devices, we will build a robust machine learning model to estimate their market value.</a:t>
          </a:r>
          <a:endParaRPr lang="en-US" sz="1400" kern="1200" dirty="0"/>
        </a:p>
      </dsp:txBody>
      <dsp:txXfrm>
        <a:off x="473941" y="3283"/>
        <a:ext cx="5820562" cy="551136"/>
      </dsp:txXfrm>
    </dsp:sp>
    <dsp:sp modelId="{AB6ADE77-CCA3-45C5-BCAA-08323059F515}">
      <dsp:nvSpPr>
        <dsp:cNvPr id="0" name=""/>
        <dsp:cNvSpPr/>
      </dsp:nvSpPr>
      <dsp:spPr>
        <a:xfrm>
          <a:off x="0" y="692204"/>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19CFAE-8BE2-45D0-A881-D6E9B4BE2908}">
      <dsp:nvSpPr>
        <dsp:cNvPr id="0" name=""/>
        <dsp:cNvSpPr/>
      </dsp:nvSpPr>
      <dsp:spPr>
        <a:xfrm>
          <a:off x="124069" y="784487"/>
          <a:ext cx="225802" cy="2255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4B3767-093E-45D7-8B5B-7AF259D17C22}">
      <dsp:nvSpPr>
        <dsp:cNvPr id="0" name=""/>
        <dsp:cNvSpPr/>
      </dsp:nvSpPr>
      <dsp:spPr>
        <a:xfrm>
          <a:off x="473941" y="692204"/>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kern="1200"/>
            <a:t>Technologies and Libraries Used</a:t>
          </a:r>
          <a:endParaRPr lang="en-US" sz="1400" kern="1200"/>
        </a:p>
      </dsp:txBody>
      <dsp:txXfrm>
        <a:off x="473941" y="692204"/>
        <a:ext cx="5820562" cy="551136"/>
      </dsp:txXfrm>
    </dsp:sp>
    <dsp:sp modelId="{95345B51-B614-422D-91A7-0FA845167FB1}">
      <dsp:nvSpPr>
        <dsp:cNvPr id="0" name=""/>
        <dsp:cNvSpPr/>
      </dsp:nvSpPr>
      <dsp:spPr>
        <a:xfrm>
          <a:off x="0" y="1381124"/>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6F0358-E9E0-4598-85C7-3B83986365F4}">
      <dsp:nvSpPr>
        <dsp:cNvPr id="0" name=""/>
        <dsp:cNvSpPr/>
      </dsp:nvSpPr>
      <dsp:spPr>
        <a:xfrm>
          <a:off x="124069" y="1473408"/>
          <a:ext cx="225802" cy="2255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A09477-4440-4297-B7C8-B1D58928829D}">
      <dsp:nvSpPr>
        <dsp:cNvPr id="0" name=""/>
        <dsp:cNvSpPr/>
      </dsp:nvSpPr>
      <dsp:spPr>
        <a:xfrm>
          <a:off x="473941" y="1381124"/>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kern="1200"/>
            <a:t>This project utilizes a suite of powerful Python libraries for data manipulation, analysis, visualization, and machine learning, including:</a:t>
          </a:r>
          <a:endParaRPr lang="en-US" sz="1400" kern="1200"/>
        </a:p>
      </dsp:txBody>
      <dsp:txXfrm>
        <a:off x="473941" y="1381124"/>
        <a:ext cx="5820562" cy="551136"/>
      </dsp:txXfrm>
    </dsp:sp>
    <dsp:sp modelId="{DA53915A-4392-4CC5-9FBB-080B79322219}">
      <dsp:nvSpPr>
        <dsp:cNvPr id="0" name=""/>
        <dsp:cNvSpPr/>
      </dsp:nvSpPr>
      <dsp:spPr>
        <a:xfrm>
          <a:off x="0" y="2070045"/>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FA6A48-E7C8-4373-A6E2-2DD342FE641F}">
      <dsp:nvSpPr>
        <dsp:cNvPr id="0" name=""/>
        <dsp:cNvSpPr/>
      </dsp:nvSpPr>
      <dsp:spPr>
        <a:xfrm>
          <a:off x="124069" y="2162329"/>
          <a:ext cx="225802" cy="22558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F4D345-A81E-4B30-AB36-AAF48F998523}">
      <dsp:nvSpPr>
        <dsp:cNvPr id="0" name=""/>
        <dsp:cNvSpPr/>
      </dsp:nvSpPr>
      <dsp:spPr>
        <a:xfrm>
          <a:off x="473941" y="2070045"/>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b="1" kern="1200"/>
            <a:t>Pandas</a:t>
          </a:r>
          <a:r>
            <a:rPr lang="en-IN" sz="1400" kern="1200"/>
            <a:t>: For data manipulation and analysis.</a:t>
          </a:r>
          <a:endParaRPr lang="en-US" sz="1400" kern="1200"/>
        </a:p>
      </dsp:txBody>
      <dsp:txXfrm>
        <a:off x="473941" y="2070045"/>
        <a:ext cx="5820562" cy="551136"/>
      </dsp:txXfrm>
    </dsp:sp>
    <dsp:sp modelId="{3EF35803-3E72-4039-8160-5517ED26D2E9}">
      <dsp:nvSpPr>
        <dsp:cNvPr id="0" name=""/>
        <dsp:cNvSpPr/>
      </dsp:nvSpPr>
      <dsp:spPr>
        <a:xfrm>
          <a:off x="0" y="2758966"/>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29122D-081F-4A8B-83B8-BA5B93EAF3D9}">
      <dsp:nvSpPr>
        <dsp:cNvPr id="0" name=""/>
        <dsp:cNvSpPr/>
      </dsp:nvSpPr>
      <dsp:spPr>
        <a:xfrm>
          <a:off x="124069" y="2851249"/>
          <a:ext cx="225802" cy="22558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AE8713-507C-4EBF-8D95-EC1C3336A3FC}">
      <dsp:nvSpPr>
        <dsp:cNvPr id="0" name=""/>
        <dsp:cNvSpPr/>
      </dsp:nvSpPr>
      <dsp:spPr>
        <a:xfrm>
          <a:off x="473941" y="2758966"/>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b="1" kern="1200"/>
            <a:t>NumPy</a:t>
          </a:r>
          <a:r>
            <a:rPr lang="en-IN" sz="1400" kern="1200"/>
            <a:t>: For numerical operations.</a:t>
          </a:r>
          <a:endParaRPr lang="en-US" sz="1400" kern="1200"/>
        </a:p>
      </dsp:txBody>
      <dsp:txXfrm>
        <a:off x="473941" y="2758966"/>
        <a:ext cx="5820562" cy="551136"/>
      </dsp:txXfrm>
    </dsp:sp>
    <dsp:sp modelId="{50C69672-A16D-4488-9B0F-C5DDFDC25320}">
      <dsp:nvSpPr>
        <dsp:cNvPr id="0" name=""/>
        <dsp:cNvSpPr/>
      </dsp:nvSpPr>
      <dsp:spPr>
        <a:xfrm>
          <a:off x="0" y="3447887"/>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E88DF-F1E5-4075-B2A8-700F448A19B1}">
      <dsp:nvSpPr>
        <dsp:cNvPr id="0" name=""/>
        <dsp:cNvSpPr/>
      </dsp:nvSpPr>
      <dsp:spPr>
        <a:xfrm>
          <a:off x="124069" y="3540170"/>
          <a:ext cx="225802" cy="22558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875556-D4CD-4144-B97A-529A96FC7846}">
      <dsp:nvSpPr>
        <dsp:cNvPr id="0" name=""/>
        <dsp:cNvSpPr/>
      </dsp:nvSpPr>
      <dsp:spPr>
        <a:xfrm>
          <a:off x="473941" y="3447887"/>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b="1" kern="1200"/>
            <a:t>Matplotlib</a:t>
          </a:r>
          <a:r>
            <a:rPr lang="en-IN" sz="1400" kern="1200"/>
            <a:t>: For creating static, interactive, and animated visualizations.</a:t>
          </a:r>
          <a:endParaRPr lang="en-US" sz="1400" kern="1200"/>
        </a:p>
      </dsp:txBody>
      <dsp:txXfrm>
        <a:off x="473941" y="3447887"/>
        <a:ext cx="5820562" cy="551136"/>
      </dsp:txXfrm>
    </dsp:sp>
    <dsp:sp modelId="{1F8D24AD-76B8-4E9E-977C-2751121B705F}">
      <dsp:nvSpPr>
        <dsp:cNvPr id="0" name=""/>
        <dsp:cNvSpPr/>
      </dsp:nvSpPr>
      <dsp:spPr>
        <a:xfrm>
          <a:off x="0" y="4136808"/>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CAE07E-2AC7-4079-A760-3DCCD4F25A3C}">
      <dsp:nvSpPr>
        <dsp:cNvPr id="0" name=""/>
        <dsp:cNvSpPr/>
      </dsp:nvSpPr>
      <dsp:spPr>
        <a:xfrm>
          <a:off x="124069" y="4229091"/>
          <a:ext cx="225802" cy="225581"/>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9F5A5E-9212-45A1-959E-17A98AA0FC1D}">
      <dsp:nvSpPr>
        <dsp:cNvPr id="0" name=""/>
        <dsp:cNvSpPr/>
      </dsp:nvSpPr>
      <dsp:spPr>
        <a:xfrm>
          <a:off x="473941" y="4136808"/>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b="1" kern="1200"/>
            <a:t>Seaborn</a:t>
          </a:r>
          <a:r>
            <a:rPr lang="en-IN" sz="1400" kern="1200"/>
            <a:t>: For statistical data visualization.</a:t>
          </a:r>
          <a:endParaRPr lang="en-US" sz="1400" kern="1200"/>
        </a:p>
      </dsp:txBody>
      <dsp:txXfrm>
        <a:off x="473941" y="4136808"/>
        <a:ext cx="5820562" cy="551136"/>
      </dsp:txXfrm>
    </dsp:sp>
    <dsp:sp modelId="{281BCFA5-9C7F-47D5-8C0C-49BD35D43C1D}">
      <dsp:nvSpPr>
        <dsp:cNvPr id="0" name=""/>
        <dsp:cNvSpPr/>
      </dsp:nvSpPr>
      <dsp:spPr>
        <a:xfrm>
          <a:off x="0" y="4825729"/>
          <a:ext cx="6372366" cy="4101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1FB322-EA81-4E84-AFA7-6B61CCEAA47C}">
      <dsp:nvSpPr>
        <dsp:cNvPr id="0" name=""/>
        <dsp:cNvSpPr/>
      </dsp:nvSpPr>
      <dsp:spPr>
        <a:xfrm>
          <a:off x="124069" y="4918012"/>
          <a:ext cx="225802" cy="225581"/>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6B1D14-7D69-4B92-A016-F0EA17359ABA}">
      <dsp:nvSpPr>
        <dsp:cNvPr id="0" name=""/>
        <dsp:cNvSpPr/>
      </dsp:nvSpPr>
      <dsp:spPr>
        <a:xfrm>
          <a:off x="473941" y="4825729"/>
          <a:ext cx="5820562" cy="55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29" tIns="58329" rIns="58329" bIns="58329" numCol="1" spcCol="1270" anchor="ctr" anchorCtr="0">
          <a:noAutofit/>
        </a:bodyPr>
        <a:lstStyle/>
        <a:p>
          <a:pPr marL="0" lvl="0" indent="0" algn="l" defTabSz="622300">
            <a:lnSpc>
              <a:spcPct val="90000"/>
            </a:lnSpc>
            <a:spcBef>
              <a:spcPct val="0"/>
            </a:spcBef>
            <a:spcAft>
              <a:spcPct val="35000"/>
            </a:spcAft>
            <a:buNone/>
          </a:pPr>
          <a:r>
            <a:rPr lang="en-IN" sz="1400" b="1" kern="1200"/>
            <a:t>Scikit-learn</a:t>
          </a:r>
          <a:r>
            <a:rPr lang="en-IN" sz="1400" kern="1200"/>
            <a:t>: For machine learning model building, evaluation, and preprocessing.</a:t>
          </a:r>
          <a:endParaRPr lang="en-US" sz="1400" kern="1200"/>
        </a:p>
      </dsp:txBody>
      <dsp:txXfrm>
        <a:off x="473941" y="4825729"/>
        <a:ext cx="5820562" cy="5511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A10367-131F-4E4B-8D7E-B73397F4BF3F}">
      <dsp:nvSpPr>
        <dsp:cNvPr id="0" name=""/>
        <dsp:cNvSpPr/>
      </dsp:nvSpPr>
      <dsp:spPr>
        <a:xfrm>
          <a:off x="0" y="481246"/>
          <a:ext cx="10515600" cy="584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t>Missing Values Check</a:t>
          </a:r>
          <a:endParaRPr lang="en-US" sz="1500" kern="1200"/>
        </a:p>
      </dsp:txBody>
      <dsp:txXfrm>
        <a:off x="28539" y="509785"/>
        <a:ext cx="10458522" cy="527556"/>
      </dsp:txXfrm>
    </dsp:sp>
    <dsp:sp modelId="{6B04AF13-9D52-4D54-A26C-9979C9474ED4}">
      <dsp:nvSpPr>
        <dsp:cNvPr id="0" name=""/>
        <dsp:cNvSpPr/>
      </dsp:nvSpPr>
      <dsp:spPr>
        <a:xfrm>
          <a:off x="0" y="1109081"/>
          <a:ext cx="10515600" cy="584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t>Initially, df.isnull().sum() was used to check for missing values across all columns. The output showed that there were no missing values present in the dataset at that stage. This indicates a relatively clean dataset from the start.</a:t>
          </a:r>
          <a:endParaRPr lang="en-US" sz="1500" kern="1200"/>
        </a:p>
      </dsp:txBody>
      <dsp:txXfrm>
        <a:off x="28539" y="1137620"/>
        <a:ext cx="10458522" cy="527556"/>
      </dsp:txXfrm>
    </dsp:sp>
    <dsp:sp modelId="{C1DDE6A2-B254-4DB5-A502-28FA48641479}">
      <dsp:nvSpPr>
        <dsp:cNvPr id="0" name=""/>
        <dsp:cNvSpPr/>
      </dsp:nvSpPr>
      <dsp:spPr>
        <a:xfrm>
          <a:off x="0" y="1736915"/>
          <a:ext cx="10515600" cy="584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t>Handling Missing Values (Robust Practice)</a:t>
          </a:r>
          <a:endParaRPr lang="en-US" sz="1500" kern="1200"/>
        </a:p>
      </dsp:txBody>
      <dsp:txXfrm>
        <a:off x="28539" y="1765454"/>
        <a:ext cx="10458522" cy="527556"/>
      </dsp:txXfrm>
    </dsp:sp>
    <dsp:sp modelId="{7F75EAA8-809F-46B0-9869-D7E4D8D7B0E6}">
      <dsp:nvSpPr>
        <dsp:cNvPr id="0" name=""/>
        <dsp:cNvSpPr/>
      </dsp:nvSpPr>
      <dsp:spPr>
        <a:xfrm>
          <a:off x="0" y="2364750"/>
          <a:ext cx="10515600" cy="584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t>Despite no missing values being found initially, a robust practice was applied to handle potential missing values for future data or if any were introduced during preprocessing:</a:t>
          </a:r>
          <a:endParaRPr lang="en-US" sz="1500" kern="1200"/>
        </a:p>
      </dsp:txBody>
      <dsp:txXfrm>
        <a:off x="28539" y="2393289"/>
        <a:ext cx="10458522" cy="527556"/>
      </dsp:txXfrm>
    </dsp:sp>
    <dsp:sp modelId="{9B7CC2D5-243E-419B-BC79-A5BB4BF26B91}">
      <dsp:nvSpPr>
        <dsp:cNvPr id="0" name=""/>
        <dsp:cNvSpPr/>
      </dsp:nvSpPr>
      <dsp:spPr>
        <a:xfrm>
          <a:off x="0" y="2992584"/>
          <a:ext cx="10515600" cy="584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a:t>Numerical Missing Values</a:t>
          </a:r>
          <a:r>
            <a:rPr lang="en-IN" sz="1500" kern="1200"/>
            <a:t>: For all numerical columns (e.g., int64, float64), NaN values would have been filled with the median of their respective columns. This approach (df[col] = df[col].fillna(df[col].median())) is less sensitive to outliers than mean imputation.</a:t>
          </a:r>
          <a:endParaRPr lang="en-US" sz="1500" kern="1200"/>
        </a:p>
      </dsp:txBody>
      <dsp:txXfrm>
        <a:off x="28539" y="3021123"/>
        <a:ext cx="10458522" cy="527556"/>
      </dsp:txXfrm>
    </dsp:sp>
    <dsp:sp modelId="{0041C86F-59DC-4D76-9AE1-F399A48E553C}">
      <dsp:nvSpPr>
        <dsp:cNvPr id="0" name=""/>
        <dsp:cNvSpPr/>
      </dsp:nvSpPr>
      <dsp:spPr>
        <a:xfrm>
          <a:off x="0" y="3620418"/>
          <a:ext cx="10515600" cy="584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a:t>Categorical Missing Values</a:t>
          </a:r>
          <a:r>
            <a:rPr lang="en-IN" sz="1500" kern="1200"/>
            <a:t>: For all categorical columns (e.g., object), NaN values would have been filled with the mode (most frequent value) of their respective columns. This approach (df[col] = df[col].fillna(df[col].mode()[0])) is suitable for non-numeric data.</a:t>
          </a:r>
          <a:endParaRPr lang="en-US" sz="1500" kern="1200"/>
        </a:p>
      </dsp:txBody>
      <dsp:txXfrm>
        <a:off x="28539" y="3648957"/>
        <a:ext cx="10458522" cy="52755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975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645264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0" y="838200"/>
            <a:ext cx="9438640" cy="4114800"/>
          </a:xfrm>
        </p:spPr>
        <p:txBody>
          <a:bodyPr anchor="t">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0" y="5217160"/>
            <a:ext cx="9438640" cy="802640"/>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27214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sz="half" idx="1"/>
          </p:nvPr>
        </p:nvSpPr>
        <p:spPr>
          <a:xfrm>
            <a:off x="838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sz="half" idx="2"/>
          </p:nvPr>
        </p:nvSpPr>
        <p:spPr>
          <a:xfrm>
            <a:off x="6172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71569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8" y="37978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89" y="1824035"/>
            <a:ext cx="4997132"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sz="half" idx="2"/>
          </p:nvPr>
        </p:nvSpPr>
        <p:spPr>
          <a:xfrm>
            <a:off x="839789" y="2505075"/>
            <a:ext cx="4997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sz="quarter" idx="3"/>
          </p:nvPr>
        </p:nvSpPr>
        <p:spPr>
          <a:xfrm>
            <a:off x="6355080" y="1824035"/>
            <a:ext cx="5000308"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sz="quarter" idx="4"/>
          </p:nvPr>
        </p:nvSpPr>
        <p:spPr>
          <a:xfrm>
            <a:off x="6355080" y="2505075"/>
            <a:ext cx="50003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563446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0" y="999592"/>
            <a:ext cx="10515600" cy="1573223"/>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96771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06444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9" y="457200"/>
            <a:ext cx="3691818" cy="17018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8" y="987425"/>
            <a:ext cx="5840589" cy="5032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sz="half" idx="2"/>
          </p:nvPr>
        </p:nvSpPr>
        <p:spPr>
          <a:xfrm>
            <a:off x="839789" y="2372360"/>
            <a:ext cx="3691817" cy="34966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8B69B885-FDB8-4C62-A285-A0CDC49A6B0C}"/>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834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89" y="457200"/>
            <a:ext cx="3696652" cy="17018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0" y="838200"/>
            <a:ext cx="560323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sz="half" idx="2"/>
          </p:nvPr>
        </p:nvSpPr>
        <p:spPr>
          <a:xfrm>
            <a:off x="839789" y="2367280"/>
            <a:ext cx="3696652" cy="35017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51E233FA-220A-423F-907E-5F81526A28A0}"/>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808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42412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orient="vert"/>
          </p:nvPr>
        </p:nvSpPr>
        <p:spPr>
          <a:xfrm>
            <a:off x="9050174" y="838199"/>
            <a:ext cx="2303626" cy="533876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orient="vert" idx="1"/>
          </p:nvPr>
        </p:nvSpPr>
        <p:spPr>
          <a:xfrm>
            <a:off x="838200" y="838199"/>
            <a:ext cx="7734300" cy="5338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sz="half" idx="10"/>
          </p:nvPr>
        </p:nvSpPr>
        <p:spPr/>
        <p:txBody>
          <a:bodyPr/>
          <a:lstStyle/>
          <a:p>
            <a:fld id="{F6CCBF3A-D7FB-4B97-8FD5-6FFB20CB1E84}" type="datetimeFigureOut">
              <a:rPr lang="en-US" smtClean="0"/>
              <a:t>2/27/2026</a:t>
            </a:fld>
            <a:endParaRPr lang="en-US"/>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7" name="Straight Connector 6">
            <a:extLst>
              <a:ext uri="{FF2B5EF4-FFF2-40B4-BE49-F238E27FC236}">
                <a16:creationId xmlns:a16="http://schemas.microsoft.com/office/drawing/2014/main" id="{41F3A7E1-F157-4338-B7F7-9C0A2D60B7FF}"/>
              </a:ext>
            </a:extLst>
          </p:cNvPr>
          <p:cNvCxnSpPr>
            <a:cxnSpLocks/>
          </p:cNvCxnSpPr>
          <p:nvPr/>
        </p:nvCxn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921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a:defRPr sz="1000">
                <a:solidFill>
                  <a:schemeClr val="tx1"/>
                </a:solidFill>
              </a:defRPr>
            </a:lvl1pPr>
          </a:lstStyle>
          <a:p>
            <a:fld id="{F6CCBF3A-D7FB-4B97-8FD5-6FFB20CB1E84}" type="datetimeFigureOut">
              <a:rPr lang="en-US" smtClean="0"/>
              <a:t>2/27/2026</a:t>
            </a:fld>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5400000">
            <a:off x="-1131161" y="1592957"/>
            <a:ext cx="2973522"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a:defRPr sz="1000">
                <a:solidFill>
                  <a:schemeClr val="tx1"/>
                </a:solidFill>
              </a:defRPr>
            </a:lvl1pPr>
          </a:lstStyle>
          <a:p>
            <a:fld id="{3109D357-8067-4A1F-97B2-93C5160B78D9}"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11139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https://colab.research.google.com/drive/1unwdSFwL2WesbvY7D2Gi5-C3Q1XrdVTb"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626F98-F213-4034-8836-88A71501D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209EF7B-8D38-DDF9-D7A1-AE96AB452CFE}"/>
              </a:ext>
            </a:extLst>
          </p:cNvPr>
          <p:cNvPicPr>
            <a:picLocks noChangeAspect="1"/>
          </p:cNvPicPr>
          <p:nvPr/>
        </p:nvPicPr>
        <p:blipFill>
          <a:blip r:embed="rId2">
            <a:alphaModFix amt="60000"/>
          </a:blip>
          <a:srcRect t="9714" b="6643"/>
          <a:stretch>
            <a:fillRect/>
          </a:stretch>
        </p:blipFill>
        <p:spPr>
          <a:xfrm>
            <a:off x="0" y="-6435"/>
            <a:ext cx="12191980" cy="6857999"/>
          </a:xfrm>
          <a:prstGeom prst="rect">
            <a:avLst/>
          </a:prstGeom>
        </p:spPr>
      </p:pic>
      <p:sp useBgFill="1">
        <p:nvSpPr>
          <p:cNvPr id="11" name="Freeform: Shape 10">
            <a:extLst>
              <a:ext uri="{FF2B5EF4-FFF2-40B4-BE49-F238E27FC236}">
                <a16:creationId xmlns:a16="http://schemas.microsoft.com/office/drawing/2014/main" id="{6B3DAACF-D844-4480-94BE-2DE00ABEE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75199" y="726177"/>
            <a:ext cx="5241603" cy="5343721"/>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25805" h="5429563">
                <a:moveTo>
                  <a:pt x="5325805" y="2714782"/>
                </a:moveTo>
                <a:cubicBezTo>
                  <a:pt x="5325805" y="4214114"/>
                  <a:pt x="4110356" y="5429563"/>
                  <a:pt x="2611024" y="5429563"/>
                </a:cubicBezTo>
                <a:lnTo>
                  <a:pt x="1942188" y="5429563"/>
                </a:lnTo>
                <a:lnTo>
                  <a:pt x="668836" y="5429563"/>
                </a:lnTo>
                <a:lnTo>
                  <a:pt x="0" y="5429563"/>
                </a:lnTo>
                <a:lnTo>
                  <a:pt x="0" y="0"/>
                </a:lnTo>
                <a:lnTo>
                  <a:pt x="668836" y="0"/>
                </a:lnTo>
                <a:lnTo>
                  <a:pt x="1942188" y="0"/>
                </a:lnTo>
                <a:lnTo>
                  <a:pt x="2611024" y="0"/>
                </a:lnTo>
                <a:cubicBezTo>
                  <a:pt x="4110356" y="0"/>
                  <a:pt x="5325805" y="1215450"/>
                  <a:pt x="5325805" y="2714782"/>
                </a:cubicBezTo>
                <a:close/>
              </a:path>
            </a:pathLst>
          </a:custGeom>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0473C9-4982-CAC3-6C03-50DD1A4A4EA8}"/>
              </a:ext>
            </a:extLst>
          </p:cNvPr>
          <p:cNvSpPr>
            <a:spLocks noGrp="1"/>
          </p:cNvSpPr>
          <p:nvPr>
            <p:ph type="ctrTitle"/>
          </p:nvPr>
        </p:nvSpPr>
        <p:spPr>
          <a:xfrm>
            <a:off x="1524000" y="1336430"/>
            <a:ext cx="9144000" cy="2820573"/>
          </a:xfrm>
        </p:spPr>
        <p:txBody>
          <a:bodyPr>
            <a:normAutofit/>
          </a:bodyPr>
          <a:lstStyle/>
          <a:p>
            <a:pPr algn="ctr"/>
            <a:r>
              <a:rPr lang="en-IN" sz="6600"/>
              <a:t>NEXTHIKE IT SOLLUTION </a:t>
            </a:r>
            <a:br>
              <a:rPr lang="en-IN" sz="6600"/>
            </a:br>
            <a:endParaRPr lang="en-IN" sz="6600"/>
          </a:p>
        </p:txBody>
      </p:sp>
      <p:sp>
        <p:nvSpPr>
          <p:cNvPr id="3" name="Subtitle 2">
            <a:extLst>
              <a:ext uri="{FF2B5EF4-FFF2-40B4-BE49-F238E27FC236}">
                <a16:creationId xmlns:a16="http://schemas.microsoft.com/office/drawing/2014/main" id="{C2964180-6661-7333-7770-3EB2322492C2}"/>
              </a:ext>
            </a:extLst>
          </p:cNvPr>
          <p:cNvSpPr>
            <a:spLocks noGrp="1"/>
          </p:cNvSpPr>
          <p:nvPr>
            <p:ph type="subTitle" idx="1"/>
          </p:nvPr>
        </p:nvSpPr>
        <p:spPr>
          <a:xfrm>
            <a:off x="4068856" y="4628271"/>
            <a:ext cx="4054288" cy="1069144"/>
          </a:xfrm>
        </p:spPr>
        <p:txBody>
          <a:bodyPr>
            <a:normAutofit/>
          </a:bodyPr>
          <a:lstStyle/>
          <a:p>
            <a:pPr algn="ctr"/>
            <a:r>
              <a:rPr lang="en-IN" dirty="0"/>
              <a:t>PROJECT REPORT </a:t>
            </a:r>
          </a:p>
          <a:p>
            <a:pPr algn="ctr"/>
            <a:r>
              <a:rPr lang="en-IN" dirty="0"/>
              <a:t>RICHA SINGH</a:t>
            </a:r>
          </a:p>
          <a:p>
            <a:pPr algn="ctr"/>
            <a:endParaRPr lang="en-IN" dirty="0"/>
          </a:p>
        </p:txBody>
      </p:sp>
    </p:spTree>
    <p:extLst>
      <p:ext uri="{BB962C8B-B14F-4D97-AF65-F5344CB8AC3E}">
        <p14:creationId xmlns:p14="http://schemas.microsoft.com/office/powerpoint/2010/main" val="807927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11CC1D-43CD-4F3D-9C43-B8D364FAC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DA038-BA17-72A1-1604-76D5F0B30C01}"/>
              </a:ext>
            </a:extLst>
          </p:cNvPr>
          <p:cNvSpPr>
            <a:spLocks noGrp="1"/>
          </p:cNvSpPr>
          <p:nvPr>
            <p:ph type="title"/>
          </p:nvPr>
        </p:nvSpPr>
        <p:spPr>
          <a:xfrm>
            <a:off x="746977" y="838200"/>
            <a:ext cx="3098583" cy="5181600"/>
          </a:xfrm>
        </p:spPr>
        <p:txBody>
          <a:bodyPr anchor="t">
            <a:normAutofit/>
          </a:bodyPr>
          <a:lstStyle/>
          <a:p>
            <a:r>
              <a:rPr lang="en-IN" sz="3600" dirty="0"/>
              <a:t>Project Objective</a:t>
            </a:r>
            <a:br>
              <a:rPr lang="en-IN" sz="3600" dirty="0"/>
            </a:br>
            <a:endParaRPr lang="en-IN" sz="3600" dirty="0"/>
          </a:p>
        </p:txBody>
      </p:sp>
      <p:cxnSp>
        <p:nvCxnSpPr>
          <p:cNvPr id="11" name="Straight Connector 10">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0970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30E5329-1AFE-CDF8-1968-4BE78F38075B}"/>
              </a:ext>
            </a:extLst>
          </p:cNvPr>
          <p:cNvGraphicFramePr>
            <a:graphicFrameLocks noGrp="1"/>
          </p:cNvGraphicFramePr>
          <p:nvPr>
            <p:ph idx="1"/>
            <p:extLst>
              <p:ext uri="{D42A27DB-BD31-4B8C-83A1-F6EECF244321}">
                <p14:modId xmlns:p14="http://schemas.microsoft.com/office/powerpoint/2010/main" val="3155528280"/>
              </p:ext>
            </p:extLst>
          </p:nvPr>
        </p:nvGraphicFramePr>
        <p:xfrm>
          <a:off x="4981434" y="792051"/>
          <a:ext cx="6372366" cy="53801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026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9381A5-DFBB-4B95-B7BC-AFB0897BD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1A67AE-B8AA-F25E-E5D4-17F14A7B0052}"/>
              </a:ext>
            </a:extLst>
          </p:cNvPr>
          <p:cNvSpPr>
            <a:spLocks noGrp="1"/>
          </p:cNvSpPr>
          <p:nvPr>
            <p:ph type="title"/>
          </p:nvPr>
        </p:nvSpPr>
        <p:spPr>
          <a:xfrm>
            <a:off x="768097" y="838200"/>
            <a:ext cx="2994748" cy="5181600"/>
          </a:xfrm>
        </p:spPr>
        <p:txBody>
          <a:bodyPr anchor="t">
            <a:normAutofit/>
          </a:bodyPr>
          <a:lstStyle/>
          <a:p>
            <a:r>
              <a:rPr lang="en-IN" sz="3600"/>
              <a:t>Data Loading and Initial Inspection</a:t>
            </a:r>
            <a:br>
              <a:rPr lang="en-IN" sz="3600"/>
            </a:br>
            <a:endParaRPr lang="en-IN" sz="3600"/>
          </a:p>
        </p:txBody>
      </p:sp>
      <p:cxnSp>
        <p:nvCxnSpPr>
          <p:cNvPr id="10" name="Straight Connector 9">
            <a:extLst>
              <a:ext uri="{FF2B5EF4-FFF2-40B4-BE49-F238E27FC236}">
                <a16:creationId xmlns:a16="http://schemas.microsoft.com/office/drawing/2014/main" id="{B5A4A5E9-8427-439C-A3EB-48C612A3D9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BCA7333-F68F-4510-0A36-B6AAA746FEE9}"/>
              </a:ext>
            </a:extLst>
          </p:cNvPr>
          <p:cNvSpPr>
            <a:spLocks noGrp="1"/>
          </p:cNvSpPr>
          <p:nvPr>
            <p:ph idx="1"/>
          </p:nvPr>
        </p:nvSpPr>
        <p:spPr>
          <a:xfrm>
            <a:off x="5002547" y="838201"/>
            <a:ext cx="5922696" cy="5181600"/>
          </a:xfrm>
        </p:spPr>
        <p:txBody>
          <a:bodyPr anchor="t">
            <a:normAutofit/>
          </a:bodyPr>
          <a:lstStyle/>
          <a:p>
            <a:r>
              <a:rPr lang="en-IN" sz="1900" dirty="0"/>
              <a:t>The dataset has been successfully loaded from </a:t>
            </a:r>
            <a:r>
              <a:rPr lang="en-IN" sz="1900" dirty="0">
                <a:hlinkClick r:id="rId2"/>
              </a:rPr>
              <a:t>/content/Processed_Flipdata.xlsx</a:t>
            </a:r>
            <a:r>
              <a:rPr lang="en-IN" sz="1900" dirty="0"/>
              <a:t> into a pandas </a:t>
            </a:r>
            <a:r>
              <a:rPr lang="en-IN" sz="1900" dirty="0" err="1"/>
              <a:t>DataFrame</a:t>
            </a:r>
            <a:r>
              <a:rPr lang="en-IN" sz="1900" dirty="0"/>
              <a:t> named </a:t>
            </a:r>
            <a:r>
              <a:rPr lang="en-IN" sz="1900" dirty="0" err="1"/>
              <a:t>df</a:t>
            </a:r>
            <a:r>
              <a:rPr lang="en-IN" sz="1900" dirty="0"/>
              <a:t>.</a:t>
            </a:r>
          </a:p>
          <a:p>
            <a:r>
              <a:rPr lang="en-IN" sz="1900" dirty="0"/>
              <a:t>To understand the initial structure of the </a:t>
            </a:r>
            <a:r>
              <a:rPr lang="en-IN" sz="1900" dirty="0" err="1"/>
              <a:t>DataFrame</a:t>
            </a:r>
            <a:r>
              <a:rPr lang="en-IN" sz="1900" dirty="0"/>
              <a:t>, df.info() was used to display a concise summary, including the number of entries, total columns, non-null values for each column, and their respective data types (e.g., int64, object, float64). This helps in quickly identifying missing values and understanding the nature of each column.</a:t>
            </a:r>
          </a:p>
          <a:p>
            <a:r>
              <a:rPr lang="en-IN" sz="1900" dirty="0"/>
              <a:t>Furthermore, </a:t>
            </a:r>
            <a:r>
              <a:rPr lang="en-IN" sz="1900" dirty="0" err="1"/>
              <a:t>df.head</a:t>
            </a:r>
            <a:r>
              <a:rPr lang="en-IN" sz="1900" dirty="0"/>
              <a:t>() was used to show the first five rows of the dataset. This provides a quick snapshot of the raw data, allowing for an immediate understanding of the sample values and how data is formatted within each column before any preprocessing or analysis begins.</a:t>
            </a:r>
          </a:p>
          <a:p>
            <a:pPr marL="0" indent="0">
              <a:buNone/>
            </a:pPr>
            <a:endParaRPr lang="en-IN" sz="1900" dirty="0"/>
          </a:p>
        </p:txBody>
      </p:sp>
    </p:spTree>
    <p:extLst>
      <p:ext uri="{BB962C8B-B14F-4D97-AF65-F5344CB8AC3E}">
        <p14:creationId xmlns:p14="http://schemas.microsoft.com/office/powerpoint/2010/main" val="3210238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9381A5-DFBB-4B95-B7BC-AFB0897BD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628446-C34D-2B8F-28FF-698E8DAFC8F4}"/>
              </a:ext>
            </a:extLst>
          </p:cNvPr>
          <p:cNvSpPr>
            <a:spLocks noGrp="1"/>
          </p:cNvSpPr>
          <p:nvPr>
            <p:ph type="title"/>
          </p:nvPr>
        </p:nvSpPr>
        <p:spPr>
          <a:xfrm>
            <a:off x="768097" y="838200"/>
            <a:ext cx="2994748" cy="5181600"/>
          </a:xfrm>
        </p:spPr>
        <p:txBody>
          <a:bodyPr anchor="t">
            <a:normAutofit/>
          </a:bodyPr>
          <a:lstStyle/>
          <a:p>
            <a:r>
              <a:rPr lang="en-IN" sz="3600"/>
              <a:t>Initial Data Cleaning</a:t>
            </a:r>
            <a:br>
              <a:rPr lang="en-IN" sz="3600"/>
            </a:br>
            <a:endParaRPr lang="en-IN" sz="3600"/>
          </a:p>
        </p:txBody>
      </p:sp>
      <p:cxnSp>
        <p:nvCxnSpPr>
          <p:cNvPr id="10" name="Straight Connector 9">
            <a:extLst>
              <a:ext uri="{FF2B5EF4-FFF2-40B4-BE49-F238E27FC236}">
                <a16:creationId xmlns:a16="http://schemas.microsoft.com/office/drawing/2014/main" id="{B5A4A5E9-8427-439C-A3EB-48C612A3D9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5FA27EC-E11A-4E64-5C8D-4E551D3F2C19}"/>
              </a:ext>
            </a:extLst>
          </p:cNvPr>
          <p:cNvSpPr>
            <a:spLocks noGrp="1"/>
          </p:cNvSpPr>
          <p:nvPr>
            <p:ph idx="1"/>
          </p:nvPr>
        </p:nvSpPr>
        <p:spPr>
          <a:xfrm>
            <a:off x="5002547" y="838201"/>
            <a:ext cx="5922696" cy="5181600"/>
          </a:xfrm>
        </p:spPr>
        <p:txBody>
          <a:bodyPr anchor="t">
            <a:normAutofit/>
          </a:bodyPr>
          <a:lstStyle/>
          <a:p>
            <a:pPr>
              <a:lnSpc>
                <a:spcPct val="100000"/>
              </a:lnSpc>
            </a:pPr>
            <a:r>
              <a:rPr lang="en-IN" sz="1300"/>
              <a:t>Explanation of Data Cleaning Steps:</a:t>
            </a:r>
          </a:p>
          <a:p>
            <a:pPr>
              <a:lnSpc>
                <a:spcPct val="100000"/>
              </a:lnSpc>
            </a:pPr>
            <a:r>
              <a:rPr lang="en-IN" sz="1300" b="1"/>
              <a:t>Standardizing Column Names</a:t>
            </a:r>
            <a:r>
              <a:rPr lang="en-IN" sz="1300"/>
              <a:t>: The code </a:t>
            </a:r>
            <a:r>
              <a:rPr lang="en-IN" sz="1300" err="1"/>
              <a:t>df.columns</a:t>
            </a:r>
            <a:r>
              <a:rPr lang="en-IN" sz="1300"/>
              <a:t> = </a:t>
            </a:r>
            <a:r>
              <a:rPr lang="en-IN" sz="1300" err="1"/>
              <a:t>df.columns.str.strip</a:t>
            </a:r>
            <a:r>
              <a:rPr lang="en-IN" sz="1300"/>
              <a:t>().</a:t>
            </a:r>
            <a:r>
              <a:rPr lang="en-IN" sz="1300" err="1"/>
              <a:t>str.replace</a:t>
            </a:r>
            <a:r>
              <a:rPr lang="en-IN" sz="1300"/>
              <a:t>(' ', '_') was used to clean up the column names. This operation performs two main tasks:</a:t>
            </a:r>
          </a:p>
          <a:p>
            <a:pPr lvl="1">
              <a:lnSpc>
                <a:spcPct val="100000"/>
              </a:lnSpc>
            </a:pPr>
            <a:r>
              <a:rPr lang="en-IN" sz="1300" i="0" err="1"/>
              <a:t>str.strip</a:t>
            </a:r>
            <a:r>
              <a:rPr lang="en-IN" sz="1300" i="0"/>
              <a:t>(): Removes any leading or trailing whitespace from each column name.</a:t>
            </a:r>
          </a:p>
          <a:p>
            <a:pPr lvl="1">
              <a:lnSpc>
                <a:spcPct val="100000"/>
              </a:lnSpc>
            </a:pPr>
            <a:r>
              <a:rPr lang="en-IN" sz="1300" i="0" err="1"/>
              <a:t>str.replace</a:t>
            </a:r>
            <a:r>
              <a:rPr lang="en-IN" sz="1300" i="0"/>
              <a:t>(' ', '_'): Replaces all spaces within the column names with underscores (_). This ensures consistency and makes column names easier to work with in Python, preventing potential errors due to irregular spacing.</a:t>
            </a:r>
          </a:p>
          <a:p>
            <a:pPr>
              <a:lnSpc>
                <a:spcPct val="100000"/>
              </a:lnSpc>
            </a:pPr>
            <a:r>
              <a:rPr lang="en-IN" sz="1300" b="1"/>
              <a:t>Handling Irrelevant Columns</a:t>
            </a:r>
            <a:r>
              <a:rPr lang="en-IN" sz="1300"/>
              <a:t>: The dataset initially contained a column named 'Unnamed: 0' (which became 'Unnamed:_0' after standardization). This column typically represents an old index from a previous save operation and is usually irrelevant for analysis. The code if 'Unnamed:_0' in </a:t>
            </a:r>
            <a:r>
              <a:rPr lang="en-IN" sz="1300" err="1"/>
              <a:t>df.columns</a:t>
            </a:r>
            <a:r>
              <a:rPr lang="en-IN" sz="1300"/>
              <a:t>: </a:t>
            </a:r>
            <a:r>
              <a:rPr lang="en-IN" sz="1300" err="1"/>
              <a:t>df</a:t>
            </a:r>
            <a:r>
              <a:rPr lang="en-IN" sz="1300"/>
              <a:t> = </a:t>
            </a:r>
            <a:r>
              <a:rPr lang="en-IN" sz="1300" err="1"/>
              <a:t>df.drop</a:t>
            </a:r>
            <a:r>
              <a:rPr lang="en-IN" sz="1300"/>
              <a:t>(columns=['Unnamed:_0']) checks for the existence of this column and, if present, safely removes it from the </a:t>
            </a:r>
            <a:r>
              <a:rPr lang="en-IN" sz="1300" err="1"/>
              <a:t>DataFrame</a:t>
            </a:r>
            <a:r>
              <a:rPr lang="en-IN" sz="1300"/>
              <a:t>.</a:t>
            </a:r>
          </a:p>
          <a:p>
            <a:pPr>
              <a:lnSpc>
                <a:spcPct val="100000"/>
              </a:lnSpc>
            </a:pPr>
            <a:r>
              <a:rPr lang="en-IN" sz="1300" b="1"/>
              <a:t>Verification</a:t>
            </a:r>
            <a:r>
              <a:rPr lang="en-IN" sz="1300"/>
              <a:t>: After these cleaning operations, print("Standardized and cleaned columns:", </a:t>
            </a:r>
            <a:r>
              <a:rPr lang="en-IN" sz="1300" err="1"/>
              <a:t>df.columns.tolist</a:t>
            </a:r>
            <a:r>
              <a:rPr lang="en-IN" sz="1300"/>
              <a:t>()) was used to display a list of the </a:t>
            </a:r>
            <a:r>
              <a:rPr lang="en-IN" sz="1300" err="1"/>
              <a:t>DataFrame's</a:t>
            </a:r>
            <a:r>
              <a:rPr lang="en-IN" sz="1300"/>
              <a:t> column names. This step allows for a quick verification that the column names have been correctly standardized and the 'Unnamed:_0' column has been successfully removed, confirming the data cleaning was effective.</a:t>
            </a:r>
          </a:p>
          <a:p>
            <a:pPr>
              <a:lnSpc>
                <a:spcPct val="100000"/>
              </a:lnSpc>
            </a:pPr>
            <a:endParaRPr lang="en-IN" sz="1300"/>
          </a:p>
          <a:p>
            <a:pPr>
              <a:lnSpc>
                <a:spcPct val="100000"/>
              </a:lnSpc>
            </a:pPr>
            <a:endParaRPr lang="en-IN" sz="1300"/>
          </a:p>
          <a:p>
            <a:pPr>
              <a:lnSpc>
                <a:spcPct val="100000"/>
              </a:lnSpc>
            </a:pPr>
            <a:endParaRPr lang="en-IN" sz="1300"/>
          </a:p>
          <a:p>
            <a:pPr>
              <a:lnSpc>
                <a:spcPct val="100000"/>
              </a:lnSpc>
            </a:pPr>
            <a:endParaRPr lang="en-IN" sz="1300"/>
          </a:p>
        </p:txBody>
      </p:sp>
    </p:spTree>
    <p:extLst>
      <p:ext uri="{BB962C8B-B14F-4D97-AF65-F5344CB8AC3E}">
        <p14:creationId xmlns:p14="http://schemas.microsoft.com/office/powerpoint/2010/main" val="1854108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9B26E-91A1-E64C-A71E-960FBE82971E}"/>
              </a:ext>
            </a:extLst>
          </p:cNvPr>
          <p:cNvSpPr>
            <a:spLocks noGrp="1"/>
          </p:cNvSpPr>
          <p:nvPr>
            <p:ph type="title"/>
          </p:nvPr>
        </p:nvSpPr>
        <p:spPr>
          <a:xfrm>
            <a:off x="838200" y="179614"/>
            <a:ext cx="10515600" cy="2073729"/>
          </a:xfrm>
        </p:spPr>
        <p:txBody>
          <a:bodyPr>
            <a:normAutofit/>
          </a:bodyPr>
          <a:lstStyle/>
          <a:p>
            <a:r>
              <a:rPr lang="en-IN" dirty="0"/>
              <a:t>Missing Values and Outlier Treatment</a:t>
            </a:r>
            <a:br>
              <a:rPr lang="en-IN" dirty="0"/>
            </a:br>
            <a:endParaRPr lang="en-IN" dirty="0"/>
          </a:p>
        </p:txBody>
      </p:sp>
      <p:graphicFrame>
        <p:nvGraphicFramePr>
          <p:cNvPr id="7" name="Content Placeholder 2">
            <a:extLst>
              <a:ext uri="{FF2B5EF4-FFF2-40B4-BE49-F238E27FC236}">
                <a16:creationId xmlns:a16="http://schemas.microsoft.com/office/drawing/2014/main" id="{5213FD08-57F8-AAFC-7D88-6EB33DF18CED}"/>
              </a:ext>
            </a:extLst>
          </p:cNvPr>
          <p:cNvGraphicFramePr>
            <a:graphicFrameLocks noGrp="1"/>
          </p:cNvGraphicFramePr>
          <p:nvPr>
            <p:ph idx="1"/>
            <p:extLst>
              <p:ext uri="{D42A27DB-BD31-4B8C-83A1-F6EECF244321}">
                <p14:modId xmlns:p14="http://schemas.microsoft.com/office/powerpoint/2010/main" val="3080277050"/>
              </p:ext>
            </p:extLst>
          </p:nvPr>
        </p:nvGraphicFramePr>
        <p:xfrm>
          <a:off x="838200" y="1730829"/>
          <a:ext cx="1051560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DFB6B98D-122C-CE2B-03AE-22C039C7E34A}"/>
              </a:ext>
            </a:extLst>
          </p:cNvPr>
          <p:cNvSpPr txBox="1"/>
          <p:nvPr/>
        </p:nvSpPr>
        <p:spPr>
          <a:xfrm>
            <a:off x="3049361" y="3244334"/>
            <a:ext cx="6098720" cy="369332"/>
          </a:xfrm>
          <a:prstGeom prst="rect">
            <a:avLst/>
          </a:prstGeom>
          <a:noFill/>
        </p:spPr>
        <p:txBody>
          <a:bodyPr wrap="square">
            <a:spAutoFit/>
          </a:bodyPr>
          <a:lstStyle/>
          <a:p>
            <a:pPr algn="l">
              <a:buNone/>
            </a:pPr>
            <a:r>
              <a:rPr lang="en-IN" b="0" i="0" dirty="0">
                <a:solidFill>
                  <a:srgbClr val="E3E3E3"/>
                </a:solidFill>
                <a:effectLst/>
                <a:latin typeface="Google Sans Text"/>
              </a:rPr>
              <a:t>Missing Values and Outlier Treatment</a:t>
            </a:r>
          </a:p>
        </p:txBody>
      </p:sp>
    </p:spTree>
    <p:extLst>
      <p:ext uri="{BB962C8B-B14F-4D97-AF65-F5344CB8AC3E}">
        <p14:creationId xmlns:p14="http://schemas.microsoft.com/office/powerpoint/2010/main" val="55874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B65799F-A943-61F0-51E3-292BF8BE86F2}"/>
              </a:ext>
            </a:extLst>
          </p:cNvPr>
          <p:cNvSpPr>
            <a:spLocks noGrp="1"/>
          </p:cNvSpPr>
          <p:nvPr>
            <p:ph idx="1"/>
          </p:nvPr>
        </p:nvSpPr>
        <p:spPr>
          <a:xfrm>
            <a:off x="914400" y="1714500"/>
            <a:ext cx="9849394" cy="5365567"/>
          </a:xfrm>
        </p:spPr>
        <p:txBody>
          <a:bodyPr anchor="ctr">
            <a:normAutofit/>
          </a:bodyPr>
          <a:lstStyle/>
          <a:p>
            <a:pPr marL="0" indent="0">
              <a:lnSpc>
                <a:spcPct val="100000"/>
              </a:lnSpc>
              <a:buNone/>
            </a:pPr>
            <a:r>
              <a:rPr lang="en-IN" sz="1200" dirty="0"/>
              <a:t>  </a:t>
            </a:r>
            <a:r>
              <a:rPr lang="en-IN" sz="1200" b="1" dirty="0"/>
              <a:t>Outlier Treatment using IQR Method</a:t>
            </a:r>
          </a:p>
          <a:p>
            <a:pPr>
              <a:lnSpc>
                <a:spcPct val="100000"/>
              </a:lnSpc>
            </a:pPr>
            <a:r>
              <a:rPr lang="en-IN" sz="1200" dirty="0"/>
              <a:t>Outliers in numerical features were treated using the Interquartile Range (IQR) method to prevent extreme values from unduly influencing the model. For each numerical column, the following steps were performed:</a:t>
            </a:r>
          </a:p>
          <a:p>
            <a:pPr>
              <a:lnSpc>
                <a:spcPct val="100000"/>
              </a:lnSpc>
            </a:pPr>
            <a:r>
              <a:rPr lang="en-IN" sz="1200" b="1" dirty="0"/>
              <a:t>Calculate Quartiles</a:t>
            </a:r>
            <a:r>
              <a:rPr lang="en-IN" sz="1200" dirty="0"/>
              <a:t>: The first quartile (Q1) and third quartile (Q3) were calculated for each numerical column:</a:t>
            </a:r>
          </a:p>
          <a:p>
            <a:pPr lvl="1">
              <a:lnSpc>
                <a:spcPct val="100000"/>
              </a:lnSpc>
            </a:pPr>
            <a:r>
              <a:rPr lang="en-IN" sz="1200" i="0" dirty="0"/>
              <a:t>Q1 = </a:t>
            </a:r>
            <a:r>
              <a:rPr lang="en-IN" sz="1200" i="0" dirty="0" err="1"/>
              <a:t>df</a:t>
            </a:r>
            <a:r>
              <a:rPr lang="en-IN" sz="1200" i="0" dirty="0"/>
              <a:t>[col].quantile(0.25)</a:t>
            </a:r>
          </a:p>
          <a:p>
            <a:pPr lvl="1">
              <a:lnSpc>
                <a:spcPct val="100000"/>
              </a:lnSpc>
            </a:pPr>
            <a:r>
              <a:rPr lang="en-IN" sz="1200" i="0" dirty="0"/>
              <a:t>Q3 = </a:t>
            </a:r>
            <a:r>
              <a:rPr lang="en-IN" sz="1200" i="0" dirty="0" err="1"/>
              <a:t>df</a:t>
            </a:r>
            <a:r>
              <a:rPr lang="en-IN" sz="1200" i="0" dirty="0"/>
              <a:t>[col].quantile(0.75)</a:t>
            </a:r>
          </a:p>
          <a:p>
            <a:pPr>
              <a:lnSpc>
                <a:spcPct val="100000"/>
              </a:lnSpc>
            </a:pPr>
            <a:r>
              <a:rPr lang="en-IN" sz="1200" b="1" dirty="0"/>
              <a:t>Calculate IQR</a:t>
            </a:r>
            <a:r>
              <a:rPr lang="en-IN" sz="1200" dirty="0"/>
              <a:t>: The Interquartile Range (IQR) was determined as the difference between Q3 and Q1:</a:t>
            </a:r>
          </a:p>
          <a:p>
            <a:pPr lvl="1">
              <a:lnSpc>
                <a:spcPct val="100000"/>
              </a:lnSpc>
            </a:pPr>
            <a:r>
              <a:rPr lang="en-IN" sz="1200" i="0" dirty="0"/>
              <a:t>IQR = Q3 - Q1</a:t>
            </a:r>
          </a:p>
          <a:p>
            <a:pPr>
              <a:lnSpc>
                <a:spcPct val="100000"/>
              </a:lnSpc>
            </a:pPr>
            <a:r>
              <a:rPr lang="en-IN" sz="1200" b="1" dirty="0"/>
              <a:t>Define Outlier Bounds</a:t>
            </a:r>
            <a:r>
              <a:rPr lang="en-IN" sz="1200" dirty="0"/>
              <a:t>: Lower and upper bounds for outliers were calculated:</a:t>
            </a:r>
          </a:p>
          <a:p>
            <a:pPr lvl="1">
              <a:lnSpc>
                <a:spcPct val="100000"/>
              </a:lnSpc>
            </a:pPr>
            <a:r>
              <a:rPr lang="en-IN" sz="1200" i="0" dirty="0"/>
              <a:t>lower = Q1 - 1.5 * IQR</a:t>
            </a:r>
          </a:p>
          <a:p>
            <a:pPr lvl="1">
              <a:lnSpc>
                <a:spcPct val="100000"/>
              </a:lnSpc>
            </a:pPr>
            <a:r>
              <a:rPr lang="en-IN" sz="1200" i="0" dirty="0"/>
              <a:t>upper = Q3 + 1.5 * IQR</a:t>
            </a:r>
          </a:p>
          <a:p>
            <a:pPr>
              <a:lnSpc>
                <a:spcPct val="100000"/>
              </a:lnSpc>
            </a:pPr>
            <a:r>
              <a:rPr lang="en-IN" sz="1200" b="1" dirty="0"/>
              <a:t>Clip Outliers</a:t>
            </a:r>
            <a:r>
              <a:rPr lang="en-IN" sz="1200" dirty="0"/>
              <a:t>: Any values below the lower bound were replaced with lower, and any values above the upper bound were replaced with upper. This process is known as 'clipping' and was implemented using:</a:t>
            </a:r>
          </a:p>
          <a:p>
            <a:pPr lvl="1">
              <a:lnSpc>
                <a:spcPct val="100000"/>
              </a:lnSpc>
            </a:pPr>
            <a:r>
              <a:rPr lang="en-IN" sz="1200" i="0" dirty="0" err="1"/>
              <a:t>df</a:t>
            </a:r>
            <a:r>
              <a:rPr lang="en-IN" sz="1200" i="0" dirty="0"/>
              <a:t>[col] = </a:t>
            </a:r>
            <a:r>
              <a:rPr lang="en-IN" sz="1200" i="0" dirty="0" err="1"/>
              <a:t>df</a:t>
            </a:r>
            <a:r>
              <a:rPr lang="en-IN" sz="1200" i="0" dirty="0"/>
              <a:t>[col].clip(lower, upper)</a:t>
            </a:r>
          </a:p>
          <a:p>
            <a:pPr>
              <a:lnSpc>
                <a:spcPct val="100000"/>
              </a:lnSpc>
            </a:pPr>
            <a:r>
              <a:rPr lang="en-IN" sz="1200" dirty="0"/>
              <a:t>This clipping ensures that extreme values are contained within a reasonable range, thereby improving the model's robustness and performance</a:t>
            </a:r>
            <a:r>
              <a:rPr lang="en-IN" sz="1000" dirty="0"/>
              <a:t>.</a:t>
            </a:r>
          </a:p>
          <a:p>
            <a:pPr algn="ctr">
              <a:lnSpc>
                <a:spcPct val="100000"/>
              </a:lnSpc>
            </a:pPr>
            <a:endParaRPr lang="en-IN" sz="1000" dirty="0"/>
          </a:p>
        </p:txBody>
      </p:sp>
    </p:spTree>
    <p:extLst>
      <p:ext uri="{BB962C8B-B14F-4D97-AF65-F5344CB8AC3E}">
        <p14:creationId xmlns:p14="http://schemas.microsoft.com/office/powerpoint/2010/main" val="394546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8E3E80-90C8-F836-32E2-1050124B683F}"/>
              </a:ext>
            </a:extLst>
          </p:cNvPr>
          <p:cNvSpPr>
            <a:spLocks noGrp="1"/>
          </p:cNvSpPr>
          <p:nvPr>
            <p:ph type="title"/>
          </p:nvPr>
        </p:nvSpPr>
        <p:spPr>
          <a:xfrm>
            <a:off x="1124793" y="365125"/>
            <a:ext cx="9937019" cy="1083341"/>
          </a:xfrm>
        </p:spPr>
        <p:txBody>
          <a:bodyPr>
            <a:normAutofit/>
          </a:bodyPr>
          <a:lstStyle/>
          <a:p>
            <a:pPr algn="ctr"/>
            <a:r>
              <a:rPr lang="en-IN" sz="2400" dirty="0"/>
              <a:t> Exploratory Data Analysis - Numerical Features</a:t>
            </a:r>
            <a:br>
              <a:rPr lang="en-IN" sz="2400" dirty="0"/>
            </a:br>
            <a:endParaRPr lang="en-IN" sz="2400" dirty="0"/>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B8F93B-0F15-762E-ADAA-7C688EAC7657}"/>
              </a:ext>
            </a:extLst>
          </p:cNvPr>
          <p:cNvSpPr>
            <a:spLocks noGrp="1"/>
          </p:cNvSpPr>
          <p:nvPr>
            <p:ph idx="1"/>
          </p:nvPr>
        </p:nvSpPr>
        <p:spPr>
          <a:xfrm>
            <a:off x="2718924" y="2176768"/>
            <a:ext cx="6732574" cy="3995429"/>
          </a:xfrm>
        </p:spPr>
        <p:txBody>
          <a:bodyPr anchor="ctr">
            <a:normAutofit/>
          </a:bodyPr>
          <a:lstStyle/>
          <a:p>
            <a:pPr marL="0" indent="0">
              <a:lnSpc>
                <a:spcPct val="100000"/>
              </a:lnSpc>
              <a:buNone/>
            </a:pPr>
            <a:r>
              <a:rPr lang="en-IN" sz="1200" dirty="0"/>
              <a:t>Insights from Numerical Feature Visualizations</a:t>
            </a:r>
          </a:p>
          <a:p>
            <a:pPr>
              <a:lnSpc>
                <a:spcPct val="100000"/>
              </a:lnSpc>
            </a:pPr>
            <a:r>
              <a:rPr lang="en-IN" sz="1200" dirty="0"/>
              <a:t>Based on the generated histograms and boxplots for numerical features, the following observations can be made:</a:t>
            </a:r>
          </a:p>
          <a:p>
            <a:pPr>
              <a:lnSpc>
                <a:spcPct val="100000"/>
              </a:lnSpc>
            </a:pPr>
            <a:r>
              <a:rPr lang="en-IN" sz="1200" dirty="0"/>
              <a:t>1. Histograms (Distribution Shapes):</a:t>
            </a:r>
          </a:p>
          <a:p>
            <a:pPr>
              <a:lnSpc>
                <a:spcPct val="100000"/>
              </a:lnSpc>
            </a:pPr>
            <a:r>
              <a:rPr lang="en-IN" sz="1200" b="1" dirty="0"/>
              <a:t>Memory, RAM, Battery_</a:t>
            </a:r>
            <a:r>
              <a:rPr lang="en-IN" sz="1200" dirty="0"/>
              <a:t>: These features tend to have multimodal or somewhat uniform distributions, rather than a clear normal distribution. For instance, 'Memory' shows peaks at specific values (e.g., 64, 128), indicating common storage options. 'RAM' also shows distinct peaks at standard RAM sizes. 'Battery_' appears somewhat concentrated around certain capacities, possibly due to standardization by manufacturers.</a:t>
            </a:r>
          </a:p>
          <a:p>
            <a:pPr>
              <a:lnSpc>
                <a:spcPct val="100000"/>
              </a:lnSpc>
            </a:pPr>
            <a:r>
              <a:rPr lang="en-IN" sz="1200" b="1" dirty="0" err="1"/>
              <a:t>AI_Lens</a:t>
            </a:r>
            <a:r>
              <a:rPr lang="en-IN" sz="1200" dirty="0"/>
              <a:t>: This is a binary feature (0 or 1), so its histogram shows two distinct bars, representing the counts of 'No AI Lens' and 'Has AI Lens'. It's not a continuous distribution.</a:t>
            </a:r>
          </a:p>
          <a:p>
            <a:pPr>
              <a:lnSpc>
                <a:spcPct val="100000"/>
              </a:lnSpc>
            </a:pPr>
            <a:r>
              <a:rPr lang="en-IN" sz="1200" b="1" dirty="0" err="1"/>
              <a:t>Mobile_Height</a:t>
            </a:r>
            <a:r>
              <a:rPr lang="en-IN" sz="1200" dirty="0"/>
              <a:t>: The distribution for mobile height appears somewhat bell-shaped but might have a slight skew, concentrating around the average smartphone sizes.</a:t>
            </a:r>
          </a:p>
          <a:p>
            <a:pPr>
              <a:lnSpc>
                <a:spcPct val="100000"/>
              </a:lnSpc>
            </a:pPr>
            <a:r>
              <a:rPr lang="en-IN" sz="1200" b="1" dirty="0"/>
              <a:t>Prize</a:t>
            </a:r>
            <a:r>
              <a:rPr lang="en-IN" sz="1200" dirty="0"/>
              <a:t>: The 'Prize' distribution is visibly right-skewed, indicating that most phones are in the lower to mid-price range, with fewer, more expensive models. This skewness suggests that models for price prediction might benefit from transformations or models robust to skewed targets.</a:t>
            </a:r>
          </a:p>
          <a:p>
            <a:pPr algn="ctr">
              <a:lnSpc>
                <a:spcPct val="100000"/>
              </a:lnSpc>
            </a:pPr>
            <a:endParaRPr lang="en-IN" sz="1100" dirty="0"/>
          </a:p>
        </p:txBody>
      </p:sp>
    </p:spTree>
    <p:extLst>
      <p:ext uri="{BB962C8B-B14F-4D97-AF65-F5344CB8AC3E}">
        <p14:creationId xmlns:p14="http://schemas.microsoft.com/office/powerpoint/2010/main" val="3080782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70CC38F-F028-7438-E427-6D35F48BA47E}"/>
              </a:ext>
            </a:extLst>
          </p:cNvPr>
          <p:cNvSpPr>
            <a:spLocks noGrp="1"/>
          </p:cNvSpPr>
          <p:nvPr>
            <p:ph idx="1"/>
          </p:nvPr>
        </p:nvSpPr>
        <p:spPr>
          <a:xfrm>
            <a:off x="1188720" y="2176768"/>
            <a:ext cx="9427464" cy="4352047"/>
          </a:xfrm>
        </p:spPr>
        <p:txBody>
          <a:bodyPr anchor="ctr">
            <a:normAutofit/>
          </a:bodyPr>
          <a:lstStyle/>
          <a:p>
            <a:pPr marL="0" indent="0">
              <a:lnSpc>
                <a:spcPct val="100000"/>
              </a:lnSpc>
              <a:buNone/>
            </a:pPr>
            <a:r>
              <a:rPr lang="en-IN" sz="1300" b="1" dirty="0"/>
              <a:t> Boxplots (Central Tendency, Spread, Outliers):</a:t>
            </a:r>
          </a:p>
          <a:p>
            <a:pPr>
              <a:lnSpc>
                <a:spcPct val="100000"/>
              </a:lnSpc>
            </a:pPr>
            <a:r>
              <a:rPr lang="en-IN" sz="1300" b="1" dirty="0"/>
              <a:t>Memory, RAM, Battery_</a:t>
            </a:r>
            <a:r>
              <a:rPr lang="en-IN" sz="1300" dirty="0"/>
              <a:t>: The boxplots for these features show clear medians and interquartile ranges, but also highlight discrete groupings of values rather than continuous spread, consistent with their histograms. The outlier clipping applied earlier seems to have constrained extreme values, as most data points now fall within a tighter range without numerous extreme outliers far from the whiskers.</a:t>
            </a:r>
          </a:p>
          <a:p>
            <a:pPr>
              <a:lnSpc>
                <a:spcPct val="100000"/>
              </a:lnSpc>
            </a:pPr>
            <a:r>
              <a:rPr lang="en-IN" sz="1300" b="1" dirty="0" err="1"/>
              <a:t>AI_Lens</a:t>
            </a:r>
            <a:r>
              <a:rPr lang="en-IN" sz="1300" dirty="0"/>
              <a:t>: As a binary feature, its boxplot is not directly interpretable in the same way as continuous numerical features, often showing a single line or point.</a:t>
            </a:r>
          </a:p>
          <a:p>
            <a:pPr>
              <a:lnSpc>
                <a:spcPct val="100000"/>
              </a:lnSpc>
            </a:pPr>
            <a:r>
              <a:rPr lang="en-IN" sz="1300" b="1" dirty="0" err="1"/>
              <a:t>Mobile_Height</a:t>
            </a:r>
            <a:r>
              <a:rPr lang="en-IN" sz="1300" dirty="0"/>
              <a:t>: The boxplot for '</a:t>
            </a:r>
            <a:r>
              <a:rPr lang="en-IN" sz="1300" dirty="0" err="1"/>
              <a:t>Mobile_Height</a:t>
            </a:r>
            <a:r>
              <a:rPr lang="en-IN" sz="1300" dirty="0"/>
              <a:t>' shows a relatively compact box with whiskers, suggesting that most mobile heights fall within a narrow, standardized range. Few potential outliers are observed, indicating the effectiveness of the clipping.</a:t>
            </a:r>
          </a:p>
          <a:p>
            <a:pPr>
              <a:lnSpc>
                <a:spcPct val="100000"/>
              </a:lnSpc>
            </a:pPr>
            <a:r>
              <a:rPr lang="en-IN" sz="1300" b="1" dirty="0"/>
              <a:t>Prize</a:t>
            </a:r>
            <a:r>
              <a:rPr lang="en-IN" sz="1300" dirty="0"/>
              <a:t>: The 'Prize' boxplot clearly shows its right-skewness. While the outlier clipping might have reduced the most extreme high prices, the upper whisker is still notably longer than the lower one, and the median is closer to the bottom of the box, reinforcing the right-skewed nature of the price data. There are still some points marked as outliers, which are values that were above Q3 + 1.5</a:t>
            </a:r>
            <a:r>
              <a:rPr lang="en-IN" sz="1300" i="1" dirty="0"/>
              <a:t>IQR or below Q1 - 1.5</a:t>
            </a:r>
            <a:r>
              <a:rPr lang="en-IN" sz="1300" dirty="0"/>
              <a:t>IQR </a:t>
            </a:r>
            <a:r>
              <a:rPr lang="en-IN" sz="1300" i="1" dirty="0"/>
              <a:t>before</a:t>
            </a:r>
            <a:r>
              <a:rPr lang="en-IN" sz="1300" dirty="0"/>
              <a:t> clipping, and are now at the clipped upper/lower bound.</a:t>
            </a:r>
          </a:p>
          <a:p>
            <a:pPr algn="ctr">
              <a:lnSpc>
                <a:spcPct val="100000"/>
              </a:lnSpc>
            </a:pPr>
            <a:endParaRPr lang="en-IN" sz="1300" dirty="0"/>
          </a:p>
        </p:txBody>
      </p:sp>
    </p:spTree>
    <p:extLst>
      <p:ext uri="{BB962C8B-B14F-4D97-AF65-F5344CB8AC3E}">
        <p14:creationId xmlns:p14="http://schemas.microsoft.com/office/powerpoint/2010/main" val="2024098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2895D4-4E25-BD01-425A-BABAFC13C047}"/>
              </a:ext>
            </a:extLst>
          </p:cNvPr>
          <p:cNvSpPr>
            <a:spLocks noGrp="1"/>
          </p:cNvSpPr>
          <p:nvPr>
            <p:ph idx="1"/>
          </p:nvPr>
        </p:nvSpPr>
        <p:spPr>
          <a:xfrm>
            <a:off x="630936" y="585216"/>
            <a:ext cx="9893808" cy="6007607"/>
          </a:xfrm>
        </p:spPr>
        <p:txBody>
          <a:bodyPr anchor="ctr">
            <a:normAutofit/>
          </a:bodyPr>
          <a:lstStyle/>
          <a:p>
            <a:pPr marL="0" indent="0">
              <a:buNone/>
            </a:pPr>
            <a:r>
              <a:rPr lang="en-IN" sz="1200" dirty="0"/>
              <a:t>Effect of Outlier Clipping:</a:t>
            </a:r>
          </a:p>
          <a:p>
            <a:r>
              <a:rPr lang="en-IN" sz="1200" dirty="0"/>
              <a:t>The outlier clipping performed earlier (using IQR method) has successfully reined in extreme values for all numerical features. For instance, in 'Battery_', all values now cluster around the median without the vast range seen previously. For 'Prize', the highest values are now capped at the upper bound calculated by Q3 + 1.5*IQR, making the distribution less stretched and potentially improving model stability. This process has made the data less susceptible to the undue influence of extreme data points, creating more robust distributions within the defined bounds.</a:t>
            </a:r>
          </a:p>
          <a:p>
            <a:pPr algn="ctr"/>
            <a:endParaRPr lang="en-IN" dirty="0"/>
          </a:p>
        </p:txBody>
      </p:sp>
    </p:spTree>
    <p:extLst>
      <p:ext uri="{BB962C8B-B14F-4D97-AF65-F5344CB8AC3E}">
        <p14:creationId xmlns:p14="http://schemas.microsoft.com/office/powerpoint/2010/main" val="2198115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F03A2E-B266-4817-B378-45B9DC3EC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A09A6-9A3B-83A0-3137-67B48546D964}"/>
              </a:ext>
            </a:extLst>
          </p:cNvPr>
          <p:cNvSpPr>
            <a:spLocks noGrp="1"/>
          </p:cNvSpPr>
          <p:nvPr>
            <p:ph type="title"/>
          </p:nvPr>
        </p:nvSpPr>
        <p:spPr>
          <a:xfrm>
            <a:off x="5583720" y="681039"/>
            <a:ext cx="5770080" cy="1640521"/>
          </a:xfrm>
        </p:spPr>
        <p:txBody>
          <a:bodyPr>
            <a:normAutofit/>
          </a:bodyPr>
          <a:lstStyle/>
          <a:p>
            <a:r>
              <a:rPr lang="en-IN" sz="3700"/>
              <a:t>Correlation Analysis</a:t>
            </a:r>
            <a:br>
              <a:rPr lang="en-IN" sz="3700"/>
            </a:br>
            <a:endParaRPr lang="en-IN" sz="3700"/>
          </a:p>
        </p:txBody>
      </p:sp>
      <p:pic>
        <p:nvPicPr>
          <p:cNvPr id="7" name="Graphic 6" descr="Statistics">
            <a:extLst>
              <a:ext uri="{FF2B5EF4-FFF2-40B4-BE49-F238E27FC236}">
                <a16:creationId xmlns:a16="http://schemas.microsoft.com/office/drawing/2014/main" id="{A6195311-A82E-87EB-8C2E-8AB851FE12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1893124"/>
            <a:ext cx="3071752" cy="3071752"/>
          </a:xfrm>
          <a:prstGeom prst="rect">
            <a:avLst/>
          </a:prstGeom>
        </p:spPr>
      </p:pic>
      <p:cxnSp>
        <p:nvCxnSpPr>
          <p:cNvPr id="12" name="Straight Connector 11">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29DDE7A-7BFE-6FDA-4A91-C8F4EBFAD396}"/>
              </a:ext>
            </a:extLst>
          </p:cNvPr>
          <p:cNvSpPr>
            <a:spLocks noGrp="1"/>
          </p:cNvSpPr>
          <p:nvPr>
            <p:ph idx="1"/>
          </p:nvPr>
        </p:nvSpPr>
        <p:spPr>
          <a:xfrm>
            <a:off x="5583720" y="2672370"/>
            <a:ext cx="5770079" cy="3504591"/>
          </a:xfrm>
        </p:spPr>
        <p:txBody>
          <a:bodyPr>
            <a:normAutofit fontScale="92500" lnSpcReduction="20000"/>
          </a:bodyPr>
          <a:lstStyle/>
          <a:p>
            <a:pPr>
              <a:lnSpc>
                <a:spcPct val="100000"/>
              </a:lnSpc>
            </a:pPr>
            <a:r>
              <a:rPr lang="en-IN" sz="1200" dirty="0"/>
              <a:t>Correlation Analysis Summary</a:t>
            </a:r>
          </a:p>
          <a:p>
            <a:pPr>
              <a:lnSpc>
                <a:spcPct val="100000"/>
              </a:lnSpc>
            </a:pPr>
            <a:r>
              <a:rPr lang="en-IN" sz="1200" dirty="0"/>
              <a:t>A heatmap illustrating the correlation matrix between numerical features was generated to visualize the relationships between variables, especially highlighting their association with the target variable 'Prize'. This helps us understand which features are most influential in determining the mobile phone price and identify any potential multicollinearity among independent variables.</a:t>
            </a:r>
          </a:p>
          <a:p>
            <a:pPr>
              <a:lnSpc>
                <a:spcPct val="100000"/>
              </a:lnSpc>
            </a:pPr>
            <a:r>
              <a:rPr lang="en-IN" sz="1200" b="1" dirty="0"/>
              <a:t>Key Insights from the Heatmap (from cell </a:t>
            </a:r>
            <a:r>
              <a:rPr lang="en-IN" sz="1200" b="1" dirty="0" err="1"/>
              <a:t>RcKucHJNcYGc</a:t>
            </a:r>
            <a:r>
              <a:rPr lang="en-IN" sz="1200" b="1" dirty="0"/>
              <a:t>):</a:t>
            </a:r>
            <a:endParaRPr lang="en-IN" sz="1200" dirty="0"/>
          </a:p>
          <a:p>
            <a:pPr>
              <a:lnSpc>
                <a:spcPct val="100000"/>
              </a:lnSpc>
            </a:pPr>
            <a:r>
              <a:rPr lang="en-IN" sz="1200" b="1" dirty="0"/>
              <a:t>Strong Positive Correlations with 'Prize':</a:t>
            </a:r>
            <a:endParaRPr lang="en-IN" sz="1200" dirty="0"/>
          </a:p>
          <a:p>
            <a:pPr lvl="1">
              <a:lnSpc>
                <a:spcPct val="100000"/>
              </a:lnSpc>
            </a:pPr>
            <a:r>
              <a:rPr lang="en-IN" sz="1200" i="0" dirty="0"/>
              <a:t>RAM and Memory show a notable positive correlation with Prize, suggesting that phones with higher RAM and internal memory tend to have higher prices. This is an expected and intuitive relationship.</a:t>
            </a:r>
          </a:p>
          <a:p>
            <a:pPr lvl="1">
              <a:lnSpc>
                <a:spcPct val="100000"/>
              </a:lnSpc>
            </a:pPr>
            <a:r>
              <a:rPr lang="en-IN" sz="1200" i="0" dirty="0" err="1"/>
              <a:t>Mobile_Height</a:t>
            </a:r>
            <a:r>
              <a:rPr lang="en-IN" sz="1200" i="0" dirty="0"/>
              <a:t> also exhibits a positive correlation with Prize, indicating that larger phones might generally be more expensive.</a:t>
            </a:r>
          </a:p>
          <a:p>
            <a:pPr>
              <a:lnSpc>
                <a:spcPct val="100000"/>
              </a:lnSpc>
            </a:pPr>
            <a:r>
              <a:rPr lang="en-IN" sz="1200" b="1" dirty="0"/>
              <a:t>Weak or Negligible Correlations with 'Prize':</a:t>
            </a:r>
            <a:endParaRPr lang="en-IN" sz="1200" dirty="0"/>
          </a:p>
          <a:p>
            <a:pPr lvl="1">
              <a:lnSpc>
                <a:spcPct val="100000"/>
              </a:lnSpc>
            </a:pPr>
            <a:r>
              <a:rPr lang="en-IN" sz="1200" i="0" dirty="0"/>
              <a:t>Battery_ shows a very weak, almost negligible, correlation with Prize. This suggests that battery capacity, within the observed range, does not significantly impact the price.</a:t>
            </a:r>
          </a:p>
          <a:p>
            <a:pPr lvl="1">
              <a:lnSpc>
                <a:spcPct val="100000"/>
              </a:lnSpc>
            </a:pPr>
            <a:r>
              <a:rPr lang="en-IN" sz="1200" i="0" dirty="0" err="1"/>
              <a:t>AI_Lens</a:t>
            </a:r>
            <a:r>
              <a:rPr lang="en-IN" sz="1200" i="0" dirty="0"/>
              <a:t> also has a very low correlation with Prize, implying that the presence of an AI lens (binary feature) is not a strong predictor of price.</a:t>
            </a:r>
          </a:p>
          <a:p>
            <a:pPr>
              <a:lnSpc>
                <a:spcPct val="100000"/>
              </a:lnSpc>
            </a:pPr>
            <a:endParaRPr lang="en-IN" sz="900" dirty="0"/>
          </a:p>
        </p:txBody>
      </p:sp>
    </p:spTree>
    <p:extLst>
      <p:ext uri="{BB962C8B-B14F-4D97-AF65-F5344CB8AC3E}">
        <p14:creationId xmlns:p14="http://schemas.microsoft.com/office/powerpoint/2010/main" val="2287287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9802534-C37A-D950-5CFC-172C6DB3C3D0}"/>
              </a:ext>
            </a:extLst>
          </p:cNvPr>
          <p:cNvSpPr>
            <a:spLocks noGrp="1"/>
          </p:cNvSpPr>
          <p:nvPr>
            <p:ph idx="1"/>
          </p:nvPr>
        </p:nvSpPr>
        <p:spPr>
          <a:xfrm>
            <a:off x="1865376" y="2176768"/>
            <a:ext cx="7586122" cy="3995429"/>
          </a:xfrm>
        </p:spPr>
        <p:txBody>
          <a:bodyPr anchor="ctr">
            <a:normAutofit/>
          </a:bodyPr>
          <a:lstStyle/>
          <a:p>
            <a:pPr>
              <a:lnSpc>
                <a:spcPct val="100000"/>
              </a:lnSpc>
            </a:pPr>
            <a:r>
              <a:rPr lang="en-IN" sz="1400" b="1" dirty="0"/>
              <a:t>Correlations Between Independent Features (Multicollinearity):</a:t>
            </a:r>
            <a:endParaRPr lang="en-IN" sz="1400" dirty="0"/>
          </a:p>
          <a:p>
            <a:pPr marL="274320" lvl="1" indent="0">
              <a:lnSpc>
                <a:spcPct val="100000"/>
              </a:lnSpc>
              <a:buNone/>
            </a:pPr>
            <a:r>
              <a:rPr lang="en-IN" sz="1400" i="0" dirty="0"/>
              <a:t>There is a moderate positive correlation between Memory and RAM, which is common in mobile specifications (phones with higher RAM often come with more internal storage). While not extremely high, this relationship should be noted as it could potentially lead to multicollinearity issues in some models, although for tree-based models like Random Forest, it's generally less problematic.</a:t>
            </a:r>
          </a:p>
          <a:p>
            <a:pPr>
              <a:lnSpc>
                <a:spcPct val="100000"/>
              </a:lnSpc>
            </a:pPr>
            <a:r>
              <a:rPr lang="en-IN" sz="1400" b="1" dirty="0"/>
              <a:t>Summary of Findings:</a:t>
            </a:r>
            <a:endParaRPr lang="en-IN" sz="1400" dirty="0"/>
          </a:p>
          <a:p>
            <a:pPr marL="0" indent="0">
              <a:lnSpc>
                <a:spcPct val="100000"/>
              </a:lnSpc>
              <a:buNone/>
            </a:pPr>
            <a:r>
              <a:rPr lang="en-IN" sz="1400" dirty="0"/>
              <a:t>      The correlation analysis reveals that Memory and RAM are the most influential numerical features          directly affecting the Prize of mobile phones. </a:t>
            </a:r>
            <a:r>
              <a:rPr lang="en-IN" sz="1400" dirty="0" err="1"/>
              <a:t>Mobile_Height</a:t>
            </a:r>
            <a:r>
              <a:rPr lang="en-IN" sz="1400" dirty="0"/>
              <a:t> also plays a role, albeit to a lesser extent. Features like Battery_ and </a:t>
            </a:r>
            <a:r>
              <a:rPr lang="en-IN" sz="1400" dirty="0" err="1"/>
              <a:t>AI_Lens</a:t>
            </a:r>
            <a:r>
              <a:rPr lang="en-IN" sz="1400" dirty="0"/>
              <a:t> do not appear to be significant drivers of price based on this analysis. The observed correlation between Memory and RAM is reasonable but should be considered in model development</a:t>
            </a:r>
          </a:p>
          <a:p>
            <a:pPr algn="ctr">
              <a:lnSpc>
                <a:spcPct val="100000"/>
              </a:lnSpc>
            </a:pPr>
            <a:endParaRPr lang="en-IN" sz="1400" dirty="0"/>
          </a:p>
        </p:txBody>
      </p:sp>
    </p:spTree>
    <p:extLst>
      <p:ext uri="{BB962C8B-B14F-4D97-AF65-F5344CB8AC3E}">
        <p14:creationId xmlns:p14="http://schemas.microsoft.com/office/powerpoint/2010/main" val="1811559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9F372C-9FC9-9C56-5484-1A804332E510}"/>
              </a:ext>
            </a:extLst>
          </p:cNvPr>
          <p:cNvSpPr>
            <a:spLocks noGrp="1"/>
          </p:cNvSpPr>
          <p:nvPr>
            <p:ph type="title"/>
          </p:nvPr>
        </p:nvSpPr>
        <p:spPr>
          <a:xfrm>
            <a:off x="1124793" y="365125"/>
            <a:ext cx="9937019" cy="1083341"/>
          </a:xfrm>
        </p:spPr>
        <p:txBody>
          <a:bodyPr>
            <a:normAutofit/>
          </a:bodyPr>
          <a:lstStyle/>
          <a:p>
            <a:pPr algn="ctr"/>
            <a:r>
              <a:rPr lang="en-IN" sz="3400"/>
              <a:t>Feature Engineering</a:t>
            </a:r>
            <a:br>
              <a:rPr lang="en-IN" sz="3400"/>
            </a:br>
            <a:endParaRPr lang="en-IN" sz="3400"/>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7EDA7CB-5C8D-C805-25EC-3FD682D15E1F}"/>
              </a:ext>
            </a:extLst>
          </p:cNvPr>
          <p:cNvSpPr>
            <a:spLocks noGrp="1"/>
          </p:cNvSpPr>
          <p:nvPr>
            <p:ph idx="1"/>
          </p:nvPr>
        </p:nvSpPr>
        <p:spPr>
          <a:xfrm>
            <a:off x="2718924" y="2176768"/>
            <a:ext cx="6732574" cy="3995429"/>
          </a:xfrm>
        </p:spPr>
        <p:txBody>
          <a:bodyPr anchor="ctr">
            <a:normAutofit/>
          </a:bodyPr>
          <a:lstStyle/>
          <a:p>
            <a:pPr>
              <a:lnSpc>
                <a:spcPct val="100000"/>
              </a:lnSpc>
            </a:pPr>
            <a:r>
              <a:rPr lang="en-IN" sz="1100" dirty="0"/>
              <a:t>To enhance the model's ability to capture complex relationships and potentially improve its predictive performance, several new features were engineered from existing numerical columns:</a:t>
            </a:r>
          </a:p>
          <a:p>
            <a:pPr>
              <a:lnSpc>
                <a:spcPct val="100000"/>
              </a:lnSpc>
            </a:pPr>
            <a:r>
              <a:rPr lang="en-IN" sz="1100" b="1" dirty="0" err="1"/>
              <a:t>RAM_Memory_Interaction</a:t>
            </a:r>
            <a:r>
              <a:rPr lang="en-IN" sz="1100" dirty="0"/>
              <a:t>: This feature was created by multiplying the RAM and Memory columns. The rationale behind this interaction term is to capture potential synergistic effects. For example, a phone with both high RAM and high internal memory might be perceived differently than a phone with high RAM but low memory, or vice-versa, beyond what individual linear effects of RAM and Memory could explain.</a:t>
            </a:r>
          </a:p>
          <a:p>
            <a:pPr>
              <a:lnSpc>
                <a:spcPct val="100000"/>
              </a:lnSpc>
            </a:pPr>
            <a:r>
              <a:rPr lang="en-IN" sz="1100" b="1" dirty="0" err="1"/>
              <a:t>Memory_per_RAM</a:t>
            </a:r>
            <a:r>
              <a:rPr lang="en-IN" sz="1100" dirty="0"/>
              <a:t>: This feature was calculated by dividing the Memory column by the RAM column. A small epsilon (1e-6) was added to the denominator to prevent division by zero errors. This ratio aims to represent the 'density' of internal storage relative to the processing memory, which could be an important factor influencing price. For instance, a higher memory-to-RAM ratio might indicate a phone optimized for storage over multitasking, or vice-versa.</a:t>
            </a:r>
          </a:p>
          <a:p>
            <a:pPr>
              <a:lnSpc>
                <a:spcPct val="100000"/>
              </a:lnSpc>
            </a:pPr>
            <a:r>
              <a:rPr lang="en-IN" sz="1100" b="1" dirty="0" err="1"/>
              <a:t>RAM_Squared</a:t>
            </a:r>
            <a:r>
              <a:rPr lang="en-IN" sz="1100" dirty="0"/>
              <a:t>: This feature was created by squaring the RAM column. The purpose of this polynomial term is to capture non-linear relationships between RAM and the target variable (Prize). It's possible that the impact of RAM on phone price is not purely linear; for example, increasing RAM from 2GB to 4GB might have a different proportional effect than increasing it from 8GB to 16GB. This squared term allows the model to learn such non-linear patterns.</a:t>
            </a:r>
          </a:p>
          <a:p>
            <a:pPr>
              <a:lnSpc>
                <a:spcPct val="100000"/>
              </a:lnSpc>
            </a:pPr>
            <a:r>
              <a:rPr lang="en-IN" sz="1100" dirty="0"/>
              <a:t>These newly engineered features were added to both the training dataset (</a:t>
            </a:r>
            <a:r>
              <a:rPr lang="en-IN" sz="1100" dirty="0" err="1"/>
              <a:t>X_train</a:t>
            </a:r>
            <a:r>
              <a:rPr lang="en-IN" sz="1100" dirty="0"/>
              <a:t>) and the testing dataset (</a:t>
            </a:r>
            <a:r>
              <a:rPr lang="en-IN" sz="1100" dirty="0" err="1"/>
              <a:t>X_test</a:t>
            </a:r>
            <a:r>
              <a:rPr lang="en-IN" sz="1100" dirty="0"/>
              <a:t>) to ensure consistency and proper evaluation of the model.</a:t>
            </a:r>
          </a:p>
          <a:p>
            <a:pPr algn="ctr">
              <a:lnSpc>
                <a:spcPct val="100000"/>
              </a:lnSpc>
            </a:pPr>
            <a:endParaRPr lang="en-IN" sz="1100" dirty="0"/>
          </a:p>
        </p:txBody>
      </p:sp>
    </p:spTree>
    <p:extLst>
      <p:ext uri="{BB962C8B-B14F-4D97-AF65-F5344CB8AC3E}">
        <p14:creationId xmlns:p14="http://schemas.microsoft.com/office/powerpoint/2010/main" val="1023975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58E052-62A8-23D3-6BC1-E157855084D9}"/>
              </a:ext>
            </a:extLst>
          </p:cNvPr>
          <p:cNvSpPr>
            <a:spLocks noGrp="1"/>
          </p:cNvSpPr>
          <p:nvPr>
            <p:ph type="title"/>
          </p:nvPr>
        </p:nvSpPr>
        <p:spPr>
          <a:xfrm>
            <a:off x="1124793" y="365125"/>
            <a:ext cx="9937019" cy="1083341"/>
          </a:xfrm>
        </p:spPr>
        <p:txBody>
          <a:bodyPr>
            <a:normAutofit/>
          </a:bodyPr>
          <a:lstStyle/>
          <a:p>
            <a:pPr algn="ctr"/>
            <a:r>
              <a:rPr lang="en-IN" sz="3400"/>
              <a:t>Categorical Feature Encoding</a:t>
            </a:r>
            <a:br>
              <a:rPr lang="en-IN" sz="3400"/>
            </a:br>
            <a:endParaRPr lang="en-IN" sz="3400"/>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A0A3369-F201-29ED-5899-E428EA6A9BBC}"/>
              </a:ext>
            </a:extLst>
          </p:cNvPr>
          <p:cNvSpPr>
            <a:spLocks noGrp="1"/>
          </p:cNvSpPr>
          <p:nvPr>
            <p:ph idx="1"/>
          </p:nvPr>
        </p:nvSpPr>
        <p:spPr>
          <a:xfrm>
            <a:off x="1472184" y="2176768"/>
            <a:ext cx="9015984" cy="3995429"/>
          </a:xfrm>
        </p:spPr>
        <p:txBody>
          <a:bodyPr anchor="ctr">
            <a:normAutofit/>
          </a:bodyPr>
          <a:lstStyle/>
          <a:p>
            <a:pPr>
              <a:lnSpc>
                <a:spcPct val="100000"/>
              </a:lnSpc>
            </a:pPr>
            <a:r>
              <a:rPr lang="en-IN" sz="1400" dirty="0"/>
              <a:t>To handle the categorical features in the dataset, one-hot encoding was applied using </a:t>
            </a:r>
            <a:r>
              <a:rPr lang="en-IN" sz="1400" dirty="0" err="1"/>
              <a:t>pd.get_dummies</a:t>
            </a:r>
            <a:r>
              <a:rPr lang="en-IN" sz="1400" dirty="0"/>
              <a:t>(). This technique converts categorical variables into a format that can be provided to machine learning algorithms to improve prediction accuracy.</a:t>
            </a:r>
          </a:p>
          <a:p>
            <a:pPr>
              <a:lnSpc>
                <a:spcPct val="100000"/>
              </a:lnSpc>
            </a:pPr>
            <a:r>
              <a:rPr lang="en-IN" sz="1400" dirty="0"/>
              <a:t>Specifically, the </a:t>
            </a:r>
            <a:r>
              <a:rPr lang="en-IN" sz="1400" dirty="0" err="1"/>
              <a:t>drop_first</a:t>
            </a:r>
            <a:r>
              <a:rPr lang="en-IN" sz="1400" dirty="0"/>
              <a:t>=True parameter was used during encoding. This helps to prevent multicollinearity by dropping the first category in each feature. This is a common practice to avoid redundancy and improve model stability without losing information.</a:t>
            </a:r>
          </a:p>
          <a:p>
            <a:pPr>
              <a:lnSpc>
                <a:spcPct val="100000"/>
              </a:lnSpc>
            </a:pPr>
            <a:r>
              <a:rPr lang="en-IN" sz="1400" dirty="0"/>
              <a:t>The categorical columns that were encoded are:</a:t>
            </a:r>
          </a:p>
          <a:p>
            <a:pPr>
              <a:lnSpc>
                <a:spcPct val="100000"/>
              </a:lnSpc>
            </a:pPr>
            <a:r>
              <a:rPr lang="en-IN" sz="1400" dirty="0"/>
              <a:t>Model</a:t>
            </a:r>
          </a:p>
          <a:p>
            <a:pPr>
              <a:lnSpc>
                <a:spcPct val="100000"/>
              </a:lnSpc>
            </a:pPr>
            <a:r>
              <a:rPr lang="en-IN" sz="1400" dirty="0"/>
              <a:t>Colour</a:t>
            </a:r>
          </a:p>
          <a:p>
            <a:pPr>
              <a:lnSpc>
                <a:spcPct val="100000"/>
              </a:lnSpc>
            </a:pPr>
            <a:r>
              <a:rPr lang="en-IN" sz="1400" dirty="0" err="1"/>
              <a:t>Rear_Camera</a:t>
            </a:r>
            <a:endParaRPr lang="en-IN" sz="1400" dirty="0"/>
          </a:p>
          <a:p>
            <a:pPr>
              <a:lnSpc>
                <a:spcPct val="100000"/>
              </a:lnSpc>
            </a:pPr>
            <a:r>
              <a:rPr lang="en-IN" sz="1400" dirty="0" err="1"/>
              <a:t>Front_Camera</a:t>
            </a:r>
            <a:endParaRPr lang="en-IN" sz="1400" dirty="0"/>
          </a:p>
          <a:p>
            <a:pPr>
              <a:lnSpc>
                <a:spcPct val="100000"/>
              </a:lnSpc>
            </a:pPr>
            <a:r>
              <a:rPr lang="en-IN" sz="1400" dirty="0"/>
              <a:t>Processor_</a:t>
            </a:r>
          </a:p>
          <a:p>
            <a:pPr algn="ctr">
              <a:lnSpc>
                <a:spcPct val="100000"/>
              </a:lnSpc>
            </a:pPr>
            <a:endParaRPr lang="en-IN" sz="1400" dirty="0"/>
          </a:p>
        </p:txBody>
      </p:sp>
    </p:spTree>
    <p:extLst>
      <p:ext uri="{BB962C8B-B14F-4D97-AF65-F5344CB8AC3E}">
        <p14:creationId xmlns:p14="http://schemas.microsoft.com/office/powerpoint/2010/main" val="3760290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92116CD-FBBD-61B9-259F-CDEB3C0B6DF9}"/>
              </a:ext>
            </a:extLst>
          </p:cNvPr>
          <p:cNvSpPr>
            <a:spLocks noGrp="1"/>
          </p:cNvSpPr>
          <p:nvPr>
            <p:ph idx="1"/>
          </p:nvPr>
        </p:nvSpPr>
        <p:spPr>
          <a:xfrm>
            <a:off x="996696" y="2176768"/>
            <a:ext cx="9646920" cy="3995429"/>
          </a:xfrm>
        </p:spPr>
        <p:txBody>
          <a:bodyPr anchor="ctr">
            <a:normAutofit/>
          </a:bodyPr>
          <a:lstStyle/>
          <a:p>
            <a:pPr>
              <a:lnSpc>
                <a:spcPct val="100000"/>
              </a:lnSpc>
            </a:pPr>
            <a:r>
              <a:rPr lang="en-IN" sz="1200" dirty="0"/>
              <a:t>One-hot encoding transforms each categorical column into multiple binary (0 or 1) columns. For instance, if the 'Colour' column had 'Black', 'Blue', and 'Red' as unique values, it would be replaced by new columns like '</a:t>
            </a:r>
            <a:r>
              <a:rPr lang="en-IN" sz="1200" dirty="0" err="1"/>
              <a:t>Colour_Blue</a:t>
            </a:r>
            <a:r>
              <a:rPr lang="en-IN" sz="1200" dirty="0"/>
              <a:t>' and '</a:t>
            </a:r>
            <a:r>
              <a:rPr lang="en-IN" sz="1200" dirty="0" err="1"/>
              <a:t>Colour_Red</a:t>
            </a:r>
            <a:r>
              <a:rPr lang="en-IN" sz="1200" dirty="0"/>
              <a:t>' (with '</a:t>
            </a:r>
            <a:r>
              <a:rPr lang="en-IN" sz="1200" dirty="0" err="1"/>
              <a:t>Colour_Black</a:t>
            </a:r>
            <a:r>
              <a:rPr lang="en-IN" sz="1200" dirty="0"/>
              <a:t>' being dropped due to </a:t>
            </a:r>
            <a:r>
              <a:rPr lang="en-IN" sz="1200" dirty="0" err="1"/>
              <a:t>drop_first</a:t>
            </a:r>
            <a:r>
              <a:rPr lang="en-IN" sz="1200" dirty="0"/>
              <a:t>=True). A '1' in '</a:t>
            </a:r>
            <a:r>
              <a:rPr lang="en-IN" sz="1200" dirty="0" err="1"/>
              <a:t>Colour_Blue</a:t>
            </a:r>
            <a:r>
              <a:rPr lang="en-IN" sz="1200" dirty="0"/>
              <a:t>' would indicate the original colour was Blue, and a '0' in both '</a:t>
            </a:r>
            <a:r>
              <a:rPr lang="en-IN" sz="1200" dirty="0" err="1"/>
              <a:t>Colour_Blue</a:t>
            </a:r>
            <a:r>
              <a:rPr lang="en-IN" sz="1200" dirty="0"/>
              <a:t>' and '</a:t>
            </a:r>
            <a:r>
              <a:rPr lang="en-IN" sz="1200" dirty="0" err="1"/>
              <a:t>Colour_Red</a:t>
            </a:r>
            <a:r>
              <a:rPr lang="en-IN" sz="1200" dirty="0"/>
              <a:t>' would indicate the original colour was Black.</a:t>
            </a:r>
          </a:p>
          <a:p>
            <a:pPr>
              <a:lnSpc>
                <a:spcPct val="100000"/>
              </a:lnSpc>
            </a:pPr>
            <a:r>
              <a:rPr lang="en-IN" sz="1200" dirty="0"/>
              <a:t>This process significantly increases the dimensionality of the dataset. Initially, the dataset had 11 columns. After one-hot encoding, the </a:t>
            </a:r>
            <a:r>
              <a:rPr lang="en-IN" sz="1200" dirty="0" err="1"/>
              <a:t>DataFrame's</a:t>
            </a:r>
            <a:r>
              <a:rPr lang="en-IN" sz="1200" dirty="0"/>
              <a:t> shape became (541, 613), meaning the number of columns increased from 11 to 613. This expansion is due to the creation of many new binary columns for each unique category within the original categorical features.</a:t>
            </a:r>
          </a:p>
          <a:p>
            <a:pPr algn="ctr">
              <a:lnSpc>
                <a:spcPct val="100000"/>
              </a:lnSpc>
            </a:pPr>
            <a:endParaRPr lang="en-IN" sz="1700" dirty="0"/>
          </a:p>
        </p:txBody>
      </p:sp>
    </p:spTree>
    <p:extLst>
      <p:ext uri="{BB962C8B-B14F-4D97-AF65-F5344CB8AC3E}">
        <p14:creationId xmlns:p14="http://schemas.microsoft.com/office/powerpoint/2010/main" val="2831432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F03A2E-B266-4817-B378-45B9DC3EC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Programmer">
            <a:extLst>
              <a:ext uri="{FF2B5EF4-FFF2-40B4-BE49-F238E27FC236}">
                <a16:creationId xmlns:a16="http://schemas.microsoft.com/office/drawing/2014/main" id="{CEB1BDF3-0057-2289-0654-E06E652545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1893124"/>
            <a:ext cx="3071752" cy="3071752"/>
          </a:xfrm>
          <a:prstGeom prst="rect">
            <a:avLst/>
          </a:prstGeom>
        </p:spPr>
      </p:pic>
      <p:cxnSp>
        <p:nvCxnSpPr>
          <p:cNvPr id="15" name="Straight Connector 14">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7973A89-DC1B-A8C5-40C8-1B7A9E26256F}"/>
              </a:ext>
            </a:extLst>
          </p:cNvPr>
          <p:cNvSpPr>
            <a:spLocks noGrp="1"/>
          </p:cNvSpPr>
          <p:nvPr>
            <p:ph idx="1"/>
          </p:nvPr>
        </p:nvSpPr>
        <p:spPr>
          <a:xfrm>
            <a:off x="5583720" y="554478"/>
            <a:ext cx="5770079" cy="5622484"/>
          </a:xfrm>
        </p:spPr>
        <p:txBody>
          <a:bodyPr>
            <a:normAutofit/>
          </a:bodyPr>
          <a:lstStyle/>
          <a:p>
            <a:pPr marL="0" indent="0">
              <a:lnSpc>
                <a:spcPct val="100000"/>
              </a:lnSpc>
              <a:buNone/>
            </a:pPr>
            <a:r>
              <a:rPr lang="en-IN" sz="1200" dirty="0"/>
              <a:t>Feature Scaling and Data Splitting</a:t>
            </a:r>
          </a:p>
          <a:p>
            <a:pPr>
              <a:lnSpc>
                <a:spcPct val="100000"/>
              </a:lnSpc>
            </a:pPr>
            <a:r>
              <a:rPr lang="en-IN" sz="1200" dirty="0"/>
              <a:t>Explanation of Standardization and Data Splitting</a:t>
            </a:r>
          </a:p>
          <a:p>
            <a:pPr>
              <a:lnSpc>
                <a:spcPct val="100000"/>
              </a:lnSpc>
            </a:pPr>
            <a:r>
              <a:rPr lang="en-IN" sz="1200" b="1" dirty="0"/>
              <a:t>Standardization of Numerical Features (</a:t>
            </a:r>
            <a:r>
              <a:rPr lang="en-IN" sz="1200" b="1" dirty="0" err="1"/>
              <a:t>StandardScaler</a:t>
            </a:r>
            <a:r>
              <a:rPr lang="en-IN" sz="1200" b="1" dirty="0"/>
              <a:t>):</a:t>
            </a:r>
            <a:endParaRPr lang="en-IN" sz="1200" dirty="0"/>
          </a:p>
          <a:p>
            <a:pPr>
              <a:lnSpc>
                <a:spcPct val="100000"/>
              </a:lnSpc>
            </a:pPr>
            <a:r>
              <a:rPr lang="en-IN" sz="1200" dirty="0"/>
              <a:t>The </a:t>
            </a:r>
            <a:r>
              <a:rPr lang="en-IN" sz="1200" dirty="0" err="1"/>
              <a:t>StandardScaler</a:t>
            </a:r>
            <a:r>
              <a:rPr lang="en-IN" sz="1200" dirty="0"/>
              <a:t> from </a:t>
            </a:r>
            <a:r>
              <a:rPr lang="en-IN" sz="1200" dirty="0" err="1"/>
              <a:t>sklearn.preprocessing</a:t>
            </a:r>
            <a:r>
              <a:rPr lang="en-IN" sz="1200" dirty="0"/>
              <a:t> was used to standardize the numerical features within the X (features) </a:t>
            </a:r>
            <a:r>
              <a:rPr lang="en-IN" sz="1200" dirty="0" err="1"/>
              <a:t>DataFrame</a:t>
            </a:r>
            <a:r>
              <a:rPr lang="en-IN" sz="1200" dirty="0"/>
              <a:t>. Standardization is a crucial preprocessing step, especially for models that are sensitive to the scale of input features (like many machine learning algorithms). It transforms the data such that each numerical feature has a mean of 0 and a standard deviation of 1. This process helps to:</a:t>
            </a:r>
          </a:p>
          <a:p>
            <a:pPr lvl="1">
              <a:lnSpc>
                <a:spcPct val="100000"/>
              </a:lnSpc>
            </a:pPr>
            <a:r>
              <a:rPr lang="en-IN" sz="1200" i="0" dirty="0"/>
              <a:t>Prevent features with larger numerical ranges from disproportionately influencing the model's training.</a:t>
            </a:r>
          </a:p>
          <a:p>
            <a:pPr lvl="1">
              <a:lnSpc>
                <a:spcPct val="100000"/>
              </a:lnSpc>
            </a:pPr>
            <a:r>
              <a:rPr lang="en-IN" sz="1200" i="0" dirty="0"/>
              <a:t>Ensure that the model treats all features equally in terms of their contribution to the learning process.</a:t>
            </a:r>
          </a:p>
          <a:p>
            <a:pPr>
              <a:lnSpc>
                <a:spcPct val="100000"/>
              </a:lnSpc>
            </a:pPr>
            <a:r>
              <a:rPr lang="en-IN" sz="1200" dirty="0"/>
              <a:t>The scaling was applied to X </a:t>
            </a:r>
            <a:r>
              <a:rPr lang="en-IN" sz="1200" i="1" dirty="0"/>
              <a:t>before</a:t>
            </a:r>
            <a:r>
              <a:rPr lang="en-IN" sz="1200" dirty="0"/>
              <a:t> splitting the data to ensure consistency between the training and testing sets.</a:t>
            </a:r>
          </a:p>
          <a:p>
            <a:pPr>
              <a:lnSpc>
                <a:spcPct val="100000"/>
              </a:lnSpc>
            </a:pPr>
            <a:r>
              <a:rPr lang="en-IN" sz="1200" b="1" dirty="0"/>
              <a:t>Splitting the Dataset (</a:t>
            </a:r>
            <a:r>
              <a:rPr lang="en-IN" sz="1200" b="1" dirty="0" err="1"/>
              <a:t>train_test_split</a:t>
            </a:r>
            <a:r>
              <a:rPr lang="en-IN" sz="1200" b="1" dirty="0"/>
              <a:t>):</a:t>
            </a:r>
            <a:endParaRPr lang="en-IN" sz="1200" dirty="0"/>
          </a:p>
          <a:p>
            <a:pPr>
              <a:lnSpc>
                <a:spcPct val="100000"/>
              </a:lnSpc>
            </a:pPr>
            <a:r>
              <a:rPr lang="en-IN" sz="1200" dirty="0"/>
              <a:t>After standardizing the features, the dataset was split into training and testing sets using the </a:t>
            </a:r>
            <a:r>
              <a:rPr lang="en-IN" sz="1200" dirty="0" err="1"/>
              <a:t>train_test_split</a:t>
            </a:r>
            <a:r>
              <a:rPr lang="en-IN" sz="1200" dirty="0"/>
              <a:t> function from </a:t>
            </a:r>
            <a:r>
              <a:rPr lang="en-IN" sz="1200" dirty="0" err="1"/>
              <a:t>sklearn.model_selection</a:t>
            </a:r>
            <a:r>
              <a:rPr lang="en-IN" sz="1200" dirty="0"/>
              <a:t>. This step is essential for evaluating the model's performance on unseen data, preventing overfitting, and providing an unbiased assessment of its generalization capability.</a:t>
            </a:r>
          </a:p>
          <a:p>
            <a:pPr lvl="1">
              <a:lnSpc>
                <a:spcPct val="100000"/>
              </a:lnSpc>
            </a:pPr>
            <a:r>
              <a:rPr lang="en-IN" sz="1200" i="0" dirty="0" err="1"/>
              <a:t>X_train</a:t>
            </a:r>
            <a:r>
              <a:rPr lang="en-IN" sz="1200" i="0" dirty="0"/>
              <a:t>: Contains the features used for training the model.</a:t>
            </a:r>
          </a:p>
          <a:p>
            <a:pPr lvl="1">
              <a:lnSpc>
                <a:spcPct val="100000"/>
              </a:lnSpc>
            </a:pPr>
            <a:r>
              <a:rPr lang="en-IN" sz="1200" i="0" dirty="0" err="1"/>
              <a:t>X_test</a:t>
            </a:r>
            <a:r>
              <a:rPr lang="en-IN" sz="1200" i="0" dirty="0"/>
              <a:t>: Contains the features used for evaluating the trained model.</a:t>
            </a:r>
          </a:p>
          <a:p>
            <a:pPr lvl="1">
              <a:lnSpc>
                <a:spcPct val="100000"/>
              </a:lnSpc>
            </a:pPr>
            <a:r>
              <a:rPr lang="en-IN" sz="1200" i="0" dirty="0" err="1"/>
              <a:t>y_train</a:t>
            </a:r>
            <a:r>
              <a:rPr lang="en-IN" sz="1200" i="0" dirty="0"/>
              <a:t>: Contains the corresponding target values (Prize) for the training features.</a:t>
            </a:r>
          </a:p>
          <a:p>
            <a:pPr lvl="1">
              <a:lnSpc>
                <a:spcPct val="100000"/>
              </a:lnSpc>
            </a:pPr>
            <a:r>
              <a:rPr lang="en-IN" sz="1200" i="0" dirty="0" err="1"/>
              <a:t>y_test</a:t>
            </a:r>
            <a:r>
              <a:rPr lang="en-IN" sz="1200" i="0" dirty="0"/>
              <a:t>: Contains the corresponding target values (Prize) for the testing features.</a:t>
            </a:r>
          </a:p>
          <a:p>
            <a:pPr>
              <a:lnSpc>
                <a:spcPct val="100000"/>
              </a:lnSpc>
            </a:pPr>
            <a:endParaRPr lang="en-IN" sz="700" dirty="0"/>
          </a:p>
        </p:txBody>
      </p:sp>
    </p:spTree>
    <p:extLst>
      <p:ext uri="{BB962C8B-B14F-4D97-AF65-F5344CB8AC3E}">
        <p14:creationId xmlns:p14="http://schemas.microsoft.com/office/powerpoint/2010/main" val="43183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80F8B59-0615-5B17-BC7B-A285F0F155C4}"/>
              </a:ext>
            </a:extLst>
          </p:cNvPr>
          <p:cNvSpPr>
            <a:spLocks noGrp="1"/>
          </p:cNvSpPr>
          <p:nvPr>
            <p:ph idx="1"/>
          </p:nvPr>
        </p:nvSpPr>
        <p:spPr>
          <a:xfrm>
            <a:off x="1005840" y="786385"/>
            <a:ext cx="9838944" cy="6071615"/>
          </a:xfrm>
        </p:spPr>
        <p:txBody>
          <a:bodyPr anchor="ctr">
            <a:normAutofit/>
          </a:bodyPr>
          <a:lstStyle/>
          <a:p>
            <a:pPr>
              <a:lnSpc>
                <a:spcPct val="100000"/>
              </a:lnSpc>
            </a:pPr>
            <a:r>
              <a:rPr lang="en-IN" sz="1200" dirty="0"/>
              <a:t>The following parameters were used for the split:</a:t>
            </a:r>
          </a:p>
          <a:p>
            <a:pPr lvl="1">
              <a:lnSpc>
                <a:spcPct val="100000"/>
              </a:lnSpc>
            </a:pPr>
            <a:r>
              <a:rPr lang="en-IN" sz="1200" i="0" dirty="0" err="1"/>
              <a:t>test_size</a:t>
            </a:r>
            <a:r>
              <a:rPr lang="en-IN" sz="1200" i="0" dirty="0"/>
              <a:t>=0.2: This indicates that 20% of the total data was allocated to the testing set, and the remaining 80% was used for the training set.</a:t>
            </a:r>
          </a:p>
          <a:p>
            <a:pPr lvl="1">
              <a:lnSpc>
                <a:spcPct val="100000"/>
              </a:lnSpc>
            </a:pPr>
            <a:r>
              <a:rPr lang="en-IN" sz="1200" i="0" dirty="0" err="1"/>
              <a:t>random_state</a:t>
            </a:r>
            <a:r>
              <a:rPr lang="en-IN" sz="1200" i="0" dirty="0"/>
              <a:t>=42: This parameter ensures reproducibility of the split. Using the same </a:t>
            </a:r>
            <a:r>
              <a:rPr lang="en-IN" sz="1200" i="0" dirty="0" err="1"/>
              <a:t>random_state</a:t>
            </a:r>
            <a:r>
              <a:rPr lang="en-IN" sz="1200" i="0" dirty="0"/>
              <a:t> value will always yield the same train and test subsets.</a:t>
            </a:r>
          </a:p>
          <a:p>
            <a:pPr>
              <a:lnSpc>
                <a:spcPct val="100000"/>
              </a:lnSpc>
            </a:pPr>
            <a:r>
              <a:rPr lang="en-IN" sz="1200" b="1" dirty="0"/>
              <a:t>Shapes of the resulting datasets:</a:t>
            </a:r>
            <a:endParaRPr lang="en-IN" sz="1200" dirty="0"/>
          </a:p>
          <a:p>
            <a:pPr lvl="1">
              <a:lnSpc>
                <a:spcPct val="100000"/>
              </a:lnSpc>
            </a:pPr>
            <a:r>
              <a:rPr lang="en-IN" sz="1200" i="0" dirty="0" err="1"/>
              <a:t>X_train</a:t>
            </a:r>
            <a:r>
              <a:rPr lang="en-IN" sz="1200" i="0" dirty="0"/>
              <a:t> shape: (432, 615)</a:t>
            </a:r>
          </a:p>
          <a:p>
            <a:pPr lvl="1">
              <a:lnSpc>
                <a:spcPct val="100000"/>
              </a:lnSpc>
            </a:pPr>
            <a:r>
              <a:rPr lang="en-IN" sz="1200" i="0" dirty="0" err="1"/>
              <a:t>X_test</a:t>
            </a:r>
            <a:r>
              <a:rPr lang="en-IN" sz="1200" i="0" dirty="0"/>
              <a:t> shape: (109, 615)</a:t>
            </a:r>
          </a:p>
          <a:p>
            <a:pPr lvl="1">
              <a:lnSpc>
                <a:spcPct val="100000"/>
              </a:lnSpc>
            </a:pPr>
            <a:r>
              <a:rPr lang="en-IN" sz="1200" i="0" dirty="0" err="1"/>
              <a:t>y_train</a:t>
            </a:r>
            <a:r>
              <a:rPr lang="en-IN" sz="1200" i="0" dirty="0"/>
              <a:t> shape: (432,)</a:t>
            </a:r>
          </a:p>
          <a:p>
            <a:pPr lvl="1">
              <a:lnSpc>
                <a:spcPct val="100000"/>
              </a:lnSpc>
            </a:pPr>
            <a:r>
              <a:rPr lang="en-IN" sz="1200" i="0" dirty="0" err="1"/>
              <a:t>y_test</a:t>
            </a:r>
            <a:r>
              <a:rPr lang="en-IN" sz="1200" i="0" dirty="0"/>
              <a:t> shape: (109,)</a:t>
            </a:r>
          </a:p>
          <a:p>
            <a:pPr algn="ctr">
              <a:lnSpc>
                <a:spcPct val="100000"/>
              </a:lnSpc>
            </a:pPr>
            <a:endParaRPr lang="en-IN" dirty="0"/>
          </a:p>
        </p:txBody>
      </p:sp>
    </p:spTree>
    <p:extLst>
      <p:ext uri="{BB962C8B-B14F-4D97-AF65-F5344CB8AC3E}">
        <p14:creationId xmlns:p14="http://schemas.microsoft.com/office/powerpoint/2010/main" val="2151476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830BD3-22C1-FDF2-765D-C66EEDE48856}"/>
              </a:ext>
            </a:extLst>
          </p:cNvPr>
          <p:cNvSpPr>
            <a:spLocks noGrp="1"/>
          </p:cNvSpPr>
          <p:nvPr>
            <p:ph type="title"/>
          </p:nvPr>
        </p:nvSpPr>
        <p:spPr>
          <a:xfrm>
            <a:off x="1124793" y="365125"/>
            <a:ext cx="9937019" cy="1083341"/>
          </a:xfrm>
        </p:spPr>
        <p:txBody>
          <a:bodyPr>
            <a:normAutofit/>
          </a:bodyPr>
          <a:lstStyle/>
          <a:p>
            <a:pPr algn="ctr"/>
            <a:br>
              <a:rPr lang="en-IN" sz="3400"/>
            </a:br>
            <a:endParaRPr lang="en-IN" sz="3400"/>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7976C6B-AA1D-01D3-3128-289BFA5C99F1}"/>
              </a:ext>
            </a:extLst>
          </p:cNvPr>
          <p:cNvSpPr>
            <a:spLocks noGrp="1"/>
          </p:cNvSpPr>
          <p:nvPr>
            <p:ph idx="1"/>
          </p:nvPr>
        </p:nvSpPr>
        <p:spPr>
          <a:xfrm>
            <a:off x="658368" y="2176768"/>
            <a:ext cx="10607040" cy="3995429"/>
          </a:xfrm>
        </p:spPr>
        <p:txBody>
          <a:bodyPr anchor="ctr">
            <a:normAutofit/>
          </a:bodyPr>
          <a:lstStyle/>
          <a:p>
            <a:pPr marL="0" indent="0">
              <a:lnSpc>
                <a:spcPct val="100000"/>
              </a:lnSpc>
              <a:buNone/>
            </a:pPr>
            <a:r>
              <a:rPr lang="da-DK" sz="1700" b="1" dirty="0"/>
              <a:t>Hyperparameter Tuning for Optimal Performance</a:t>
            </a:r>
          </a:p>
          <a:p>
            <a:pPr>
              <a:lnSpc>
                <a:spcPct val="100000"/>
              </a:lnSpc>
            </a:pPr>
            <a:r>
              <a:rPr lang="en-IN" sz="1700" b="1" dirty="0"/>
              <a:t>Objective:</a:t>
            </a:r>
            <a:r>
              <a:rPr lang="en-IN" sz="1700" dirty="0"/>
              <a:t> To improve the initial Random Forest model's predictive accuracy by systematically searching for the best combination of hyperparameters.</a:t>
            </a:r>
          </a:p>
          <a:p>
            <a:pPr>
              <a:lnSpc>
                <a:spcPct val="100000"/>
              </a:lnSpc>
            </a:pPr>
            <a:r>
              <a:rPr lang="en-IN" sz="1700" b="1" dirty="0"/>
              <a:t>Method:</a:t>
            </a:r>
            <a:r>
              <a:rPr lang="en-IN" sz="1700" dirty="0"/>
              <a:t> We employed </a:t>
            </a:r>
            <a:r>
              <a:rPr lang="en-IN" sz="1700" dirty="0" err="1"/>
              <a:t>RandomizedSearchCV</a:t>
            </a:r>
            <a:r>
              <a:rPr lang="en-IN" sz="1700" dirty="0"/>
              <a:t> (d7e694f7) with a predefined parameter distribution (</a:t>
            </a:r>
            <a:r>
              <a:rPr lang="en-IN" sz="1700" dirty="0" err="1"/>
              <a:t>param_dist</a:t>
            </a:r>
            <a:r>
              <a:rPr lang="en-IN" sz="1700" dirty="0"/>
              <a:t> in 3fc3f1cc). This efficient technique explores a wide range of parameter combinations to find the most effective settings.</a:t>
            </a:r>
          </a:p>
          <a:p>
            <a:pPr>
              <a:lnSpc>
                <a:spcPct val="100000"/>
              </a:lnSpc>
            </a:pPr>
            <a:r>
              <a:rPr lang="en-IN" sz="1700" b="1" dirty="0"/>
              <a:t>Outcome:</a:t>
            </a:r>
            <a:r>
              <a:rPr lang="en-IN" sz="1700" dirty="0"/>
              <a:t> After running 100 iterations with 5-fold cross-validation, </a:t>
            </a:r>
            <a:r>
              <a:rPr lang="en-IN" sz="1700" dirty="0" err="1"/>
              <a:t>RandomizedSearchCV</a:t>
            </a:r>
            <a:r>
              <a:rPr lang="en-IN" sz="1700" dirty="0"/>
              <a:t> identified the </a:t>
            </a:r>
            <a:r>
              <a:rPr lang="en-IN" sz="1700" dirty="0" err="1"/>
              <a:t>best_params</a:t>
            </a:r>
            <a:r>
              <a:rPr lang="en-IN" sz="1700" dirty="0"/>
              <a:t>_ for our model, yielding an improved negative Mean Squared Error (</a:t>
            </a:r>
            <a:r>
              <a:rPr lang="en-IN" sz="1700" dirty="0" err="1"/>
              <a:t>rscv.best_score</a:t>
            </a:r>
            <a:r>
              <a:rPr lang="en-IN" sz="1700" dirty="0"/>
              <a:t>_ in 85ec60b5). These optimal parameters were then used to train our </a:t>
            </a:r>
            <a:r>
              <a:rPr lang="en-IN" sz="1700" dirty="0" err="1"/>
              <a:t>best_model</a:t>
            </a:r>
            <a:r>
              <a:rPr lang="en-IN" sz="1700" dirty="0"/>
              <a:t>.</a:t>
            </a:r>
          </a:p>
          <a:p>
            <a:pPr marL="0" indent="0" algn="ctr">
              <a:lnSpc>
                <a:spcPct val="100000"/>
              </a:lnSpc>
              <a:buNone/>
            </a:pPr>
            <a:endParaRPr lang="en-IN" sz="1700" dirty="0"/>
          </a:p>
        </p:txBody>
      </p:sp>
    </p:spTree>
    <p:extLst>
      <p:ext uri="{BB962C8B-B14F-4D97-AF65-F5344CB8AC3E}">
        <p14:creationId xmlns:p14="http://schemas.microsoft.com/office/powerpoint/2010/main" val="1920812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3B704A-2E01-4381-05B0-943256C51033}"/>
              </a:ext>
            </a:extLst>
          </p:cNvPr>
          <p:cNvSpPr>
            <a:spLocks noGrp="1"/>
          </p:cNvSpPr>
          <p:nvPr>
            <p:ph type="title"/>
          </p:nvPr>
        </p:nvSpPr>
        <p:spPr>
          <a:xfrm>
            <a:off x="1124793" y="365125"/>
            <a:ext cx="9937019" cy="1083341"/>
          </a:xfrm>
        </p:spPr>
        <p:txBody>
          <a:bodyPr>
            <a:normAutofit/>
          </a:bodyPr>
          <a:lstStyle/>
          <a:p>
            <a:pPr algn="ctr"/>
            <a:r>
              <a:rPr lang="en-IN" sz="3400" b="1"/>
              <a:t>Tuned Model Performance Evaluation</a:t>
            </a:r>
            <a:endParaRPr lang="en-IN" sz="3400"/>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8F40F43-0BEE-7936-B31F-A447F89E2E53}"/>
              </a:ext>
            </a:extLst>
          </p:cNvPr>
          <p:cNvSpPr>
            <a:spLocks noGrp="1"/>
          </p:cNvSpPr>
          <p:nvPr>
            <p:ph idx="1"/>
          </p:nvPr>
        </p:nvSpPr>
        <p:spPr>
          <a:xfrm>
            <a:off x="585216" y="2176768"/>
            <a:ext cx="10625328" cy="3995429"/>
          </a:xfrm>
        </p:spPr>
        <p:txBody>
          <a:bodyPr anchor="ctr">
            <a:normAutofit/>
          </a:bodyPr>
          <a:lstStyle/>
          <a:p>
            <a:pPr>
              <a:lnSpc>
                <a:spcPct val="100000"/>
              </a:lnSpc>
            </a:pPr>
            <a:r>
              <a:rPr lang="en-IN" sz="1200" b="1" dirty="0"/>
              <a:t>Model:</a:t>
            </a:r>
            <a:r>
              <a:rPr lang="en-IN" sz="1200" dirty="0"/>
              <a:t> The Random Forest Regressor, trained with the best hyperparameters found by </a:t>
            </a:r>
            <a:r>
              <a:rPr lang="en-IN" sz="1200" dirty="0" err="1"/>
              <a:t>RandomizedSearchCV</a:t>
            </a:r>
            <a:r>
              <a:rPr lang="en-IN" sz="1200" dirty="0"/>
              <a:t>.</a:t>
            </a:r>
          </a:p>
          <a:p>
            <a:pPr>
              <a:lnSpc>
                <a:spcPct val="100000"/>
              </a:lnSpc>
            </a:pPr>
            <a:r>
              <a:rPr lang="en-IN" sz="1200" b="1" dirty="0"/>
              <a:t>Metrics :</a:t>
            </a:r>
            <a:endParaRPr lang="en-IN" sz="1200" dirty="0"/>
          </a:p>
          <a:p>
            <a:pPr lvl="1">
              <a:lnSpc>
                <a:spcPct val="100000"/>
              </a:lnSpc>
            </a:pPr>
            <a:r>
              <a:rPr lang="en-IN" sz="1200" b="1" i="0" dirty="0"/>
              <a:t>Mean Absolute Error (MAE):</a:t>
            </a:r>
            <a:r>
              <a:rPr lang="en-IN" sz="1200" i="0" dirty="0"/>
              <a:t> 1580.14 - On average, our tuned model's predictions are about ₹1580 off the actual price.</a:t>
            </a:r>
          </a:p>
          <a:p>
            <a:pPr lvl="1">
              <a:lnSpc>
                <a:spcPct val="100000"/>
              </a:lnSpc>
            </a:pPr>
            <a:r>
              <a:rPr lang="en-IN" sz="1200" b="1" i="0" dirty="0"/>
              <a:t>Mean Squared Error (MSE):</a:t>
            </a:r>
            <a:r>
              <a:rPr lang="en-IN" sz="1200" i="0" dirty="0"/>
              <a:t> 8222195.73 - This indicates the average squared difference between predicted and actual values.</a:t>
            </a:r>
          </a:p>
          <a:p>
            <a:pPr lvl="1">
              <a:lnSpc>
                <a:spcPct val="100000"/>
              </a:lnSpc>
            </a:pPr>
            <a:r>
              <a:rPr lang="en-IN" sz="1200" b="1" i="0" dirty="0"/>
              <a:t>R-squared (R2):</a:t>
            </a:r>
            <a:r>
              <a:rPr lang="en-IN" sz="1200" i="0" dirty="0"/>
              <a:t> 0.86 - This means that 86% of the variance in mobile phone prices can be explained by our tuned model, indicating a strong predictive capability.</a:t>
            </a:r>
          </a:p>
          <a:p>
            <a:pPr>
              <a:lnSpc>
                <a:spcPct val="100000"/>
              </a:lnSpc>
            </a:pPr>
            <a:r>
              <a:rPr lang="en-IN" sz="1200" b="1" dirty="0"/>
              <a:t>Visualization:</a:t>
            </a:r>
            <a:r>
              <a:rPr lang="en-IN" sz="1200" dirty="0"/>
              <a:t> The scatter plot of 'Actual Prize' vs. 'Predicted Prize' for the tuned model shows predictions clustering closely around the 'Perfect Prediction' line, confirming the model's good performance across various price ranges.</a:t>
            </a:r>
          </a:p>
          <a:p>
            <a:pPr algn="ctr">
              <a:lnSpc>
                <a:spcPct val="100000"/>
              </a:lnSpc>
            </a:pPr>
            <a:endParaRPr lang="en-IN" sz="1500" dirty="0"/>
          </a:p>
        </p:txBody>
      </p:sp>
    </p:spTree>
    <p:extLst>
      <p:ext uri="{BB962C8B-B14F-4D97-AF65-F5344CB8AC3E}">
        <p14:creationId xmlns:p14="http://schemas.microsoft.com/office/powerpoint/2010/main" val="4202845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990E50-22CD-832C-D940-4CD61A459960}"/>
              </a:ext>
            </a:extLst>
          </p:cNvPr>
          <p:cNvSpPr>
            <a:spLocks noGrp="1"/>
          </p:cNvSpPr>
          <p:nvPr>
            <p:ph type="title"/>
          </p:nvPr>
        </p:nvSpPr>
        <p:spPr>
          <a:xfrm>
            <a:off x="1124793" y="365125"/>
            <a:ext cx="9937019" cy="1083341"/>
          </a:xfrm>
        </p:spPr>
        <p:txBody>
          <a:bodyPr>
            <a:normAutofit/>
          </a:bodyPr>
          <a:lstStyle/>
          <a:p>
            <a:pPr algn="ctr"/>
            <a:r>
              <a:rPr lang="en-IN" b="1" dirty="0"/>
              <a:t>Key Feature Importances</a:t>
            </a:r>
            <a:endParaRPr lang="en-IN"/>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5BA3038-C419-D75F-DB19-DF7BAA2FD050}"/>
              </a:ext>
            </a:extLst>
          </p:cNvPr>
          <p:cNvSpPr>
            <a:spLocks noGrp="1"/>
          </p:cNvSpPr>
          <p:nvPr>
            <p:ph idx="1"/>
          </p:nvPr>
        </p:nvSpPr>
        <p:spPr>
          <a:xfrm>
            <a:off x="832104" y="2176768"/>
            <a:ext cx="10323576" cy="3995429"/>
          </a:xfrm>
        </p:spPr>
        <p:txBody>
          <a:bodyPr anchor="ctr">
            <a:normAutofit/>
          </a:bodyPr>
          <a:lstStyle/>
          <a:p>
            <a:pPr>
              <a:lnSpc>
                <a:spcPct val="100000"/>
              </a:lnSpc>
            </a:pPr>
            <a:r>
              <a:rPr lang="en-IN" sz="1300" b="1" dirty="0"/>
              <a:t>Objective:</a:t>
            </a:r>
            <a:r>
              <a:rPr lang="en-IN" sz="1300" dirty="0"/>
              <a:t> To understand which features (55dbae08) have the most significant impact on predicting mobile phone prices in our tuned model.</a:t>
            </a:r>
          </a:p>
          <a:p>
            <a:pPr>
              <a:lnSpc>
                <a:spcPct val="100000"/>
              </a:lnSpc>
            </a:pPr>
            <a:r>
              <a:rPr lang="en-IN" sz="1300" b="1" dirty="0"/>
              <a:t>Top 5 Most Important Features:</a:t>
            </a:r>
            <a:endParaRPr lang="en-IN" sz="1300" dirty="0"/>
          </a:p>
          <a:p>
            <a:pPr lvl="1">
              <a:lnSpc>
                <a:spcPct val="100000"/>
              </a:lnSpc>
            </a:pPr>
            <a:r>
              <a:rPr lang="en-IN" sz="1300" b="1" i="0" dirty="0"/>
              <a:t>Memory:</a:t>
            </a:r>
            <a:r>
              <a:rPr lang="en-IN" sz="1300" i="0" dirty="0"/>
              <a:t> Storage capacity plays a crucial role.</a:t>
            </a:r>
          </a:p>
          <a:p>
            <a:pPr lvl="1">
              <a:lnSpc>
                <a:spcPct val="100000"/>
              </a:lnSpc>
            </a:pPr>
            <a:r>
              <a:rPr lang="en-IN" sz="1300" b="1" i="0" dirty="0"/>
              <a:t>RAM:</a:t>
            </a:r>
            <a:r>
              <a:rPr lang="en-IN" sz="1300" i="0" dirty="0"/>
              <a:t> The amount of RAM is another highly influential factor.</a:t>
            </a:r>
          </a:p>
          <a:p>
            <a:pPr lvl="1">
              <a:lnSpc>
                <a:spcPct val="100000"/>
              </a:lnSpc>
            </a:pPr>
            <a:r>
              <a:rPr lang="en-IN" sz="1300" b="1" i="0" dirty="0" err="1"/>
              <a:t>RAM_Memory_Interaction</a:t>
            </a:r>
            <a:r>
              <a:rPr lang="en-IN" sz="1300" b="1" i="0" dirty="0"/>
              <a:t>:</a:t>
            </a:r>
            <a:r>
              <a:rPr lang="en-IN" sz="1300" i="0" dirty="0"/>
              <a:t> The interaction between RAM and Memory is also very important, suggesting their combined effect is more than just individual contributions.</a:t>
            </a:r>
          </a:p>
          <a:p>
            <a:pPr lvl="1">
              <a:lnSpc>
                <a:spcPct val="100000"/>
              </a:lnSpc>
            </a:pPr>
            <a:r>
              <a:rPr lang="en-IN" sz="1300" b="1" i="0" dirty="0" err="1"/>
              <a:t>RAM_Squared</a:t>
            </a:r>
            <a:r>
              <a:rPr lang="en-IN" sz="1300" b="1" i="0" dirty="0"/>
              <a:t>:</a:t>
            </a:r>
            <a:r>
              <a:rPr lang="en-IN" sz="1300" i="0" dirty="0"/>
              <a:t> The squared term for RAM also ranks highly, indicating a non-linear relationship where the impact of RAM on price might not be constant.</a:t>
            </a:r>
          </a:p>
          <a:p>
            <a:pPr lvl="1">
              <a:lnSpc>
                <a:spcPct val="100000"/>
              </a:lnSpc>
            </a:pPr>
            <a:r>
              <a:rPr lang="en-IN" sz="1300" b="1" i="0" dirty="0" err="1"/>
              <a:t>Memory_per_RAM</a:t>
            </a:r>
            <a:r>
              <a:rPr lang="en-IN" sz="1300" b="1" i="0" dirty="0"/>
              <a:t>:</a:t>
            </a:r>
            <a:r>
              <a:rPr lang="en-IN" sz="1300" i="0" dirty="0"/>
              <a:t> The ratio of Memory to RAM also contributes significantly.</a:t>
            </a:r>
          </a:p>
          <a:p>
            <a:pPr>
              <a:lnSpc>
                <a:spcPct val="100000"/>
              </a:lnSpc>
            </a:pPr>
            <a:r>
              <a:rPr lang="en-IN" sz="1300" b="1" dirty="0"/>
              <a:t>Insight:</a:t>
            </a:r>
            <a:r>
              <a:rPr lang="en-IN" sz="1300" dirty="0"/>
              <a:t> The model heavily relies on memory-related features (RAM and Internal Memory) and their engineered interactions, confirming that these are primary drivers of mobile phone pricing. Other features like camera specifications and processor type also contribute but to a lesser extent.</a:t>
            </a:r>
          </a:p>
          <a:p>
            <a:pPr algn="ctr">
              <a:lnSpc>
                <a:spcPct val="100000"/>
              </a:lnSpc>
            </a:pPr>
            <a:endParaRPr lang="en-IN" sz="1300" dirty="0"/>
          </a:p>
        </p:txBody>
      </p:sp>
    </p:spTree>
    <p:extLst>
      <p:ext uri="{BB962C8B-B14F-4D97-AF65-F5344CB8AC3E}">
        <p14:creationId xmlns:p14="http://schemas.microsoft.com/office/powerpoint/2010/main" val="2071789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E456A1-F34C-4DB8-B32A-F604B48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1C6C72-B50B-6A3F-BC09-5CF0A9F20E7A}"/>
              </a:ext>
            </a:extLst>
          </p:cNvPr>
          <p:cNvSpPr>
            <a:spLocks noGrp="1"/>
          </p:cNvSpPr>
          <p:nvPr>
            <p:ph type="title"/>
          </p:nvPr>
        </p:nvSpPr>
        <p:spPr>
          <a:xfrm>
            <a:off x="1124793" y="365125"/>
            <a:ext cx="9937019" cy="1083341"/>
          </a:xfrm>
        </p:spPr>
        <p:txBody>
          <a:bodyPr>
            <a:normAutofit/>
          </a:bodyPr>
          <a:lstStyle/>
          <a:p>
            <a:pPr algn="ctr"/>
            <a:r>
              <a:rPr lang="en-IN" sz="4100" b="1"/>
              <a:t>Conclusion &amp; Future Outlook</a:t>
            </a:r>
            <a:endParaRPr lang="en-IN" sz="4100" dirty="0"/>
          </a:p>
        </p:txBody>
      </p:sp>
      <p:cxnSp>
        <p:nvCxnSpPr>
          <p:cNvPr id="10" name="Straight Connector 9">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6026" y="17145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C7A4096-4FAD-26C2-5F55-E923F918E07E}"/>
              </a:ext>
            </a:extLst>
          </p:cNvPr>
          <p:cNvSpPr>
            <a:spLocks noGrp="1"/>
          </p:cNvSpPr>
          <p:nvPr>
            <p:ph idx="1"/>
          </p:nvPr>
        </p:nvSpPr>
        <p:spPr>
          <a:xfrm>
            <a:off x="859536" y="2176768"/>
            <a:ext cx="10202276" cy="3995429"/>
          </a:xfrm>
        </p:spPr>
        <p:txBody>
          <a:bodyPr anchor="ctr">
            <a:normAutofit/>
          </a:bodyPr>
          <a:lstStyle/>
          <a:p>
            <a:pPr>
              <a:lnSpc>
                <a:spcPct val="100000"/>
              </a:lnSpc>
            </a:pPr>
            <a:r>
              <a:rPr lang="en-IN" sz="1300" b="1" dirty="0"/>
              <a:t>Project Success:</a:t>
            </a:r>
            <a:r>
              <a:rPr lang="en-IN" sz="1300" dirty="0"/>
              <a:t> I successfully built and tuned a Random Forest Regression model that predicts mobile phone prices with an R-squared score of 0.86, demonstrating strong predictive power based on the provided dataset and engineered features.</a:t>
            </a:r>
          </a:p>
          <a:p>
            <a:pPr>
              <a:lnSpc>
                <a:spcPct val="100000"/>
              </a:lnSpc>
            </a:pPr>
            <a:r>
              <a:rPr lang="en-IN" sz="1300" b="1" dirty="0"/>
              <a:t>Key Drivers:</a:t>
            </a:r>
            <a:r>
              <a:rPr lang="en-IN" sz="1300" dirty="0"/>
              <a:t> Memory, RAM, and their derived features are the most significant determinants of mobile phone prices.</a:t>
            </a:r>
          </a:p>
          <a:p>
            <a:pPr>
              <a:lnSpc>
                <a:spcPct val="100000"/>
              </a:lnSpc>
            </a:pPr>
            <a:r>
              <a:rPr lang="en-IN" sz="1300" b="1" dirty="0"/>
              <a:t>Future Enhancements:</a:t>
            </a:r>
            <a:endParaRPr lang="en-IN" sz="1300" dirty="0"/>
          </a:p>
          <a:p>
            <a:pPr lvl="1">
              <a:lnSpc>
                <a:spcPct val="100000"/>
              </a:lnSpc>
            </a:pPr>
            <a:r>
              <a:rPr lang="en-IN" sz="1300" b="1" i="0" dirty="0"/>
              <a:t>More Data:</a:t>
            </a:r>
            <a:r>
              <a:rPr lang="en-IN" sz="1300" i="0" dirty="0"/>
              <a:t> Incorporating a larger and more diverse dataset could further improve model generalization.</a:t>
            </a:r>
          </a:p>
          <a:p>
            <a:pPr lvl="1">
              <a:lnSpc>
                <a:spcPct val="100000"/>
              </a:lnSpc>
            </a:pPr>
            <a:r>
              <a:rPr lang="en-IN" sz="1300" b="1" i="0" dirty="0"/>
              <a:t>Advanced Feature Engineering:</a:t>
            </a:r>
            <a:r>
              <a:rPr lang="en-IN" sz="1300" i="0" dirty="0"/>
              <a:t> Exploring other interaction terms or polynomial features could uncover additional insights.</a:t>
            </a:r>
          </a:p>
          <a:p>
            <a:pPr lvl="1">
              <a:lnSpc>
                <a:spcPct val="100000"/>
              </a:lnSpc>
            </a:pPr>
            <a:r>
              <a:rPr lang="en-IN" sz="1300" b="1" i="0" dirty="0"/>
              <a:t>Alternative Models:</a:t>
            </a:r>
            <a:r>
              <a:rPr lang="en-IN" sz="1300" i="0" dirty="0"/>
              <a:t> Experimenting with other advanced regression models (e.g., </a:t>
            </a:r>
            <a:r>
              <a:rPr lang="en-IN" sz="1300" i="0" dirty="0" err="1"/>
              <a:t>XGBoost</a:t>
            </a:r>
            <a:r>
              <a:rPr lang="en-IN" sz="1300" i="0" dirty="0"/>
              <a:t>, </a:t>
            </a:r>
            <a:r>
              <a:rPr lang="en-IN" sz="1300" i="0" dirty="0" err="1"/>
              <a:t>LightGBM</a:t>
            </a:r>
            <a:r>
              <a:rPr lang="en-IN" sz="1300" i="0" dirty="0"/>
              <a:t>, neural networks) might yield even better performance.</a:t>
            </a:r>
          </a:p>
          <a:p>
            <a:pPr lvl="1">
              <a:lnSpc>
                <a:spcPct val="100000"/>
              </a:lnSpc>
            </a:pPr>
            <a:r>
              <a:rPr lang="en-IN" sz="1300" b="1" i="0" dirty="0"/>
              <a:t>Real-time Data:</a:t>
            </a:r>
            <a:r>
              <a:rPr lang="en-IN" sz="1300" i="0" dirty="0"/>
              <a:t> Integrating real-time market data or consumer reviews could enhance prediction accuracy and relevance.</a:t>
            </a:r>
          </a:p>
          <a:p>
            <a:pPr algn="ctr">
              <a:lnSpc>
                <a:spcPct val="100000"/>
              </a:lnSpc>
            </a:pPr>
            <a:endParaRPr lang="en-IN" sz="1300" dirty="0"/>
          </a:p>
        </p:txBody>
      </p:sp>
    </p:spTree>
    <p:extLst>
      <p:ext uri="{BB962C8B-B14F-4D97-AF65-F5344CB8AC3E}">
        <p14:creationId xmlns:p14="http://schemas.microsoft.com/office/powerpoint/2010/main" val="2549669881"/>
      </p:ext>
    </p:extLst>
  </p:cSld>
  <p:clrMapOvr>
    <a:masterClrMapping/>
  </p:clrMapOvr>
</p:sld>
</file>

<file path=ppt/theme/theme1.xml><?xml version="1.0" encoding="utf-8"?>
<a:theme xmlns:a="http://schemas.openxmlformats.org/drawingml/2006/main" name="ArchwayVTI">
  <a:themeElements>
    <a:clrScheme name="Custom 1">
      <a:dk1>
        <a:sysClr val="windowText" lastClr="000000"/>
      </a:dk1>
      <a:lt1>
        <a:sysClr val="window" lastClr="FFFFFF"/>
      </a:lt1>
      <a:dk2>
        <a:srgbClr val="2E3A3C"/>
      </a:dk2>
      <a:lt2>
        <a:srgbClr val="EDE9E7"/>
      </a:lt2>
      <a:accent1>
        <a:srgbClr val="898470"/>
      </a:accent1>
      <a:accent2>
        <a:srgbClr val="7A8773"/>
      </a:accent2>
      <a:accent3>
        <a:srgbClr val="8C845E"/>
      </a:accent3>
      <a:accent4>
        <a:srgbClr val="9F7E56"/>
      </a:accent4>
      <a:accent5>
        <a:srgbClr val="9B7E69"/>
      </a:accent5>
      <a:accent6>
        <a:srgbClr val="AA7862"/>
      </a:accent6>
      <a:hlink>
        <a:srgbClr val="7A8773"/>
      </a:hlink>
      <a:folHlink>
        <a:srgbClr val="9F7E56"/>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VTI" id="{309F1D27-9968-4F93-BA7C-3666A757FD2E}" vid="{76D8E8FD-8787-4E56-A14A-C28BF58ABEEE}"/>
    </a:ext>
  </a:extLst>
</a:theme>
</file>

<file path=docProps/app.xml><?xml version="1.0" encoding="utf-8"?>
<Properties xmlns="http://schemas.openxmlformats.org/officeDocument/2006/extended-properties" xmlns:vt="http://schemas.openxmlformats.org/officeDocument/2006/docPropsVTypes">
  <TotalTime>62</TotalTime>
  <Words>3415</Words>
  <Application>Microsoft Office PowerPoint</Application>
  <PresentationFormat>Widescreen</PresentationFormat>
  <Paragraphs>142</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Felix Titling</vt:lpstr>
      <vt:lpstr>Google Sans Text</vt:lpstr>
      <vt:lpstr>Goudy Old Style</vt:lpstr>
      <vt:lpstr>ArchwayVTI</vt:lpstr>
      <vt:lpstr>NEXTHIKE IT SOLLUTION  </vt:lpstr>
      <vt:lpstr>Project Objective </vt:lpstr>
      <vt:lpstr>Data Loading and Initial Inspection </vt:lpstr>
      <vt:lpstr>Initial Data Cleaning </vt:lpstr>
      <vt:lpstr>Missing Values and Outlier Treatment </vt:lpstr>
      <vt:lpstr>PowerPoint Presentation</vt:lpstr>
      <vt:lpstr> Exploratory Data Analysis - Numerical Features </vt:lpstr>
      <vt:lpstr>PowerPoint Presentation</vt:lpstr>
      <vt:lpstr>PowerPoint Presentation</vt:lpstr>
      <vt:lpstr>Correlation Analysis </vt:lpstr>
      <vt:lpstr>PowerPoint Presentation</vt:lpstr>
      <vt:lpstr>Feature Engineering </vt:lpstr>
      <vt:lpstr>Categorical Feature Encoding </vt:lpstr>
      <vt:lpstr>PowerPoint Presentation</vt:lpstr>
      <vt:lpstr>PowerPoint Presentation</vt:lpstr>
      <vt:lpstr>PowerPoint Presentation</vt:lpstr>
      <vt:lpstr> </vt:lpstr>
      <vt:lpstr>Tuned Model Performance Evaluation</vt:lpstr>
      <vt:lpstr>Key Feature Importances</vt:lpstr>
      <vt:lpstr>Conclusion &amp; Future Outlook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 Singh</dc:creator>
  <cp:lastModifiedBy>Richa Singh</cp:lastModifiedBy>
  <cp:revision>1</cp:revision>
  <dcterms:created xsi:type="dcterms:W3CDTF">2026-02-27T16:32:13Z</dcterms:created>
  <dcterms:modified xsi:type="dcterms:W3CDTF">2026-02-27T17:34:35Z</dcterms:modified>
</cp:coreProperties>
</file>